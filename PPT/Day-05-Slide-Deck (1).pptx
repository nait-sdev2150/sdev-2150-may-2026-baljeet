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3"/>
  </p:notesMasterIdLst>
  <p:sldIdLst>
    <p:sldId id="256" r:id="rId2"/>
    <p:sldId id="257" r:id="rId3"/>
    <p:sldId id="282" r:id="rId4"/>
    <p:sldId id="306" r:id="rId5"/>
    <p:sldId id="342" r:id="rId6"/>
    <p:sldId id="322" r:id="rId7"/>
    <p:sldId id="343" r:id="rId8"/>
    <p:sldId id="344" r:id="rId9"/>
    <p:sldId id="307" r:id="rId10"/>
    <p:sldId id="303" r:id="rId11"/>
    <p:sldId id="334" r:id="rId12"/>
    <p:sldId id="335" r:id="rId13"/>
    <p:sldId id="336" r:id="rId14"/>
    <p:sldId id="337" r:id="rId15"/>
    <p:sldId id="338" r:id="rId16"/>
    <p:sldId id="339" r:id="rId17"/>
    <p:sldId id="345" r:id="rId18"/>
    <p:sldId id="340" r:id="rId19"/>
    <p:sldId id="341" r:id="rId20"/>
    <p:sldId id="308" r:id="rId21"/>
    <p:sldId id="301" r:id="rId22"/>
    <p:sldId id="309" r:id="rId23"/>
    <p:sldId id="302" r:id="rId24"/>
    <p:sldId id="310" r:id="rId25"/>
    <p:sldId id="304" r:id="rId26"/>
    <p:sldId id="323" r:id="rId27"/>
    <p:sldId id="324" r:id="rId28"/>
    <p:sldId id="325" r:id="rId29"/>
    <p:sldId id="326" r:id="rId30"/>
    <p:sldId id="332" r:id="rId31"/>
    <p:sldId id="331" r:id="rId32"/>
    <p:sldId id="327" r:id="rId33"/>
    <p:sldId id="328" r:id="rId34"/>
    <p:sldId id="333" r:id="rId35"/>
    <p:sldId id="329" r:id="rId36"/>
    <p:sldId id="330" r:id="rId37"/>
    <p:sldId id="311" r:id="rId38"/>
    <p:sldId id="305" r:id="rId39"/>
    <p:sldId id="295" r:id="rId40"/>
    <p:sldId id="258" r:id="rId41"/>
    <p:sldId id="281"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72"/>
    <p:restoredTop sz="94679"/>
  </p:normalViewPr>
  <p:slideViewPr>
    <p:cSldViewPr snapToGrid="0">
      <p:cViewPr>
        <p:scale>
          <a:sx n="47" d="100"/>
          <a:sy n="47" d="100"/>
        </p:scale>
        <p:origin x="859" y="3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3411B5-A9B8-6D4E-A83B-91456309AD37}" type="datetimeFigureOut">
              <a:rPr lang="en-US" smtClean="0"/>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6114E8-53D3-EB43-8A56-360BB7DBBFD6}" type="slidenum">
              <a:rPr lang="en-US" smtClean="0"/>
              <a:t>‹#›</a:t>
            </a:fld>
            <a:endParaRPr lang="en-US"/>
          </a:p>
        </p:txBody>
      </p:sp>
    </p:spTree>
    <p:extLst>
      <p:ext uri="{BB962C8B-B14F-4D97-AF65-F5344CB8AC3E}">
        <p14:creationId xmlns:p14="http://schemas.microsoft.com/office/powerpoint/2010/main" val="1695718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BAB49-A5B2-6384-E3DF-547F4B224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33F74-9E95-3FF6-D454-C8FE8B02CC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4A9C78-3715-9929-CCA0-CC917FE0A3D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976A795B-34AA-88EC-21E0-9B502A3D23AD}"/>
              </a:ext>
            </a:extLst>
          </p:cNvPr>
          <p:cNvSpPr>
            <a:spLocks noGrp="1"/>
          </p:cNvSpPr>
          <p:nvPr>
            <p:ph type="sldNum" sz="quarter" idx="5"/>
          </p:nvPr>
        </p:nvSpPr>
        <p:spPr/>
        <p:txBody>
          <a:bodyPr/>
          <a:lstStyle/>
          <a:p>
            <a:fld id="{CFE641A9-FDE3-4583-B812-65C4064188F6}" type="slidenum">
              <a:rPr lang="en-CA" smtClean="0"/>
              <a:t>4</a:t>
            </a:fld>
            <a:endParaRPr lang="en-CA"/>
          </a:p>
        </p:txBody>
      </p:sp>
    </p:spTree>
    <p:extLst>
      <p:ext uri="{BB962C8B-B14F-4D97-AF65-F5344CB8AC3E}">
        <p14:creationId xmlns:p14="http://schemas.microsoft.com/office/powerpoint/2010/main" val="1242019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C1B27-2AC3-687F-17B8-760C59F1F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133A79-D1B1-1F5C-EEF5-578504509A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4A97B-D8F8-4C45-E58C-57115F94740B}"/>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33315220-2AE2-A6FC-8F7F-808067A00FE2}"/>
              </a:ext>
            </a:extLst>
          </p:cNvPr>
          <p:cNvSpPr>
            <a:spLocks noGrp="1"/>
          </p:cNvSpPr>
          <p:nvPr>
            <p:ph type="sldNum" sz="quarter" idx="5"/>
          </p:nvPr>
        </p:nvSpPr>
        <p:spPr/>
        <p:txBody>
          <a:bodyPr/>
          <a:lstStyle/>
          <a:p>
            <a:fld id="{CFE641A9-FDE3-4583-B812-65C4064188F6}" type="slidenum">
              <a:rPr lang="en-CA" smtClean="0"/>
              <a:t>9</a:t>
            </a:fld>
            <a:endParaRPr lang="en-CA"/>
          </a:p>
        </p:txBody>
      </p:sp>
    </p:spTree>
    <p:extLst>
      <p:ext uri="{BB962C8B-B14F-4D97-AF65-F5344CB8AC3E}">
        <p14:creationId xmlns:p14="http://schemas.microsoft.com/office/powerpoint/2010/main" val="3783574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B8AA7-95E9-3549-30F3-2B533AA02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B8752-C939-E0A6-D433-09EC253517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AE5380-5FAF-1495-42D4-FB958EF0A21F}"/>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0BC8A2B-F13F-2168-981D-62E0E4A03639}"/>
              </a:ext>
            </a:extLst>
          </p:cNvPr>
          <p:cNvSpPr>
            <a:spLocks noGrp="1"/>
          </p:cNvSpPr>
          <p:nvPr>
            <p:ph type="sldNum" sz="quarter" idx="5"/>
          </p:nvPr>
        </p:nvSpPr>
        <p:spPr/>
        <p:txBody>
          <a:bodyPr/>
          <a:lstStyle/>
          <a:p>
            <a:fld id="{CFE641A9-FDE3-4583-B812-65C4064188F6}" type="slidenum">
              <a:rPr lang="en-CA" smtClean="0"/>
              <a:t>11</a:t>
            </a:fld>
            <a:endParaRPr lang="en-CA"/>
          </a:p>
        </p:txBody>
      </p:sp>
    </p:spTree>
    <p:extLst>
      <p:ext uri="{BB962C8B-B14F-4D97-AF65-F5344CB8AC3E}">
        <p14:creationId xmlns:p14="http://schemas.microsoft.com/office/powerpoint/2010/main" val="4090665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E58AE-DEED-BC57-6253-696256AE00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8DBE22-9D5B-5966-0EA6-85F9746DF2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91F618-0C8C-26E0-0CF1-90EC2F5C9E1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3DD35597-1F79-E4C0-22A0-04F83E6E2B45}"/>
              </a:ext>
            </a:extLst>
          </p:cNvPr>
          <p:cNvSpPr>
            <a:spLocks noGrp="1"/>
          </p:cNvSpPr>
          <p:nvPr>
            <p:ph type="sldNum" sz="quarter" idx="5"/>
          </p:nvPr>
        </p:nvSpPr>
        <p:spPr/>
        <p:txBody>
          <a:bodyPr/>
          <a:lstStyle/>
          <a:p>
            <a:fld id="{CFE641A9-FDE3-4583-B812-65C4064188F6}" type="slidenum">
              <a:rPr lang="en-CA" smtClean="0"/>
              <a:t>13</a:t>
            </a:fld>
            <a:endParaRPr lang="en-CA"/>
          </a:p>
        </p:txBody>
      </p:sp>
    </p:spTree>
    <p:extLst>
      <p:ext uri="{BB962C8B-B14F-4D97-AF65-F5344CB8AC3E}">
        <p14:creationId xmlns:p14="http://schemas.microsoft.com/office/powerpoint/2010/main" val="1093583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62E75-D6E9-AF40-79FD-BBF2AE7EA4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DD9E8F-1DEE-EFDC-0F2E-E5EF66A1A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0E6843-AC39-91E1-04D7-F037F8791CBE}"/>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DA7C37E-2DCA-C71C-77B6-850E14E586C1}"/>
              </a:ext>
            </a:extLst>
          </p:cNvPr>
          <p:cNvSpPr>
            <a:spLocks noGrp="1"/>
          </p:cNvSpPr>
          <p:nvPr>
            <p:ph type="sldNum" sz="quarter" idx="5"/>
          </p:nvPr>
        </p:nvSpPr>
        <p:spPr/>
        <p:txBody>
          <a:bodyPr/>
          <a:lstStyle/>
          <a:p>
            <a:fld id="{CFE641A9-FDE3-4583-B812-65C4064188F6}" type="slidenum">
              <a:rPr lang="en-CA" smtClean="0"/>
              <a:t>15</a:t>
            </a:fld>
            <a:endParaRPr lang="en-CA"/>
          </a:p>
        </p:txBody>
      </p:sp>
    </p:spTree>
    <p:extLst>
      <p:ext uri="{BB962C8B-B14F-4D97-AF65-F5344CB8AC3E}">
        <p14:creationId xmlns:p14="http://schemas.microsoft.com/office/powerpoint/2010/main" val="3680549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A4C01-C84C-9427-B684-2E837D4865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925F4-851D-1E92-3AE0-0CC265989F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6C2922-EE37-3755-0762-3D6AAAEEA338}"/>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04ACD58-4EA1-A06B-85CC-C9B4D93CC68F}"/>
              </a:ext>
            </a:extLst>
          </p:cNvPr>
          <p:cNvSpPr>
            <a:spLocks noGrp="1"/>
          </p:cNvSpPr>
          <p:nvPr>
            <p:ph type="sldNum" sz="quarter" idx="5"/>
          </p:nvPr>
        </p:nvSpPr>
        <p:spPr/>
        <p:txBody>
          <a:bodyPr/>
          <a:lstStyle/>
          <a:p>
            <a:fld id="{CFE641A9-FDE3-4583-B812-65C4064188F6}" type="slidenum">
              <a:rPr lang="en-CA" smtClean="0"/>
              <a:t>18</a:t>
            </a:fld>
            <a:endParaRPr lang="en-CA"/>
          </a:p>
        </p:txBody>
      </p:sp>
    </p:spTree>
    <p:extLst>
      <p:ext uri="{BB962C8B-B14F-4D97-AF65-F5344CB8AC3E}">
        <p14:creationId xmlns:p14="http://schemas.microsoft.com/office/powerpoint/2010/main" val="1528724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EC574-A905-95F7-797C-4FA7A8083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B7DDF-4AA7-6743-EAB2-7A480F063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495D3D-991D-DD34-AB5A-0FF581FE6913}"/>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16CBA23A-9C12-1013-24A0-75A73898095C}"/>
              </a:ext>
            </a:extLst>
          </p:cNvPr>
          <p:cNvSpPr>
            <a:spLocks noGrp="1"/>
          </p:cNvSpPr>
          <p:nvPr>
            <p:ph type="sldNum" sz="quarter" idx="5"/>
          </p:nvPr>
        </p:nvSpPr>
        <p:spPr/>
        <p:txBody>
          <a:bodyPr/>
          <a:lstStyle/>
          <a:p>
            <a:fld id="{CFE641A9-FDE3-4583-B812-65C4064188F6}" type="slidenum">
              <a:rPr lang="en-CA" smtClean="0"/>
              <a:t>20</a:t>
            </a:fld>
            <a:endParaRPr lang="en-CA"/>
          </a:p>
        </p:txBody>
      </p:sp>
    </p:spTree>
    <p:extLst>
      <p:ext uri="{BB962C8B-B14F-4D97-AF65-F5344CB8AC3E}">
        <p14:creationId xmlns:p14="http://schemas.microsoft.com/office/powerpoint/2010/main" val="2522911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908C1-6B38-83B0-6F8E-65306B3C64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B24D64-C5B1-AC25-0CDB-BB2466AC4A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986E11-5C29-1691-D1F2-ACB0244F478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9AC69F6B-D2F4-9822-B9B2-F78F518E7667}"/>
              </a:ext>
            </a:extLst>
          </p:cNvPr>
          <p:cNvSpPr>
            <a:spLocks noGrp="1"/>
          </p:cNvSpPr>
          <p:nvPr>
            <p:ph type="sldNum" sz="quarter" idx="5"/>
          </p:nvPr>
        </p:nvSpPr>
        <p:spPr/>
        <p:txBody>
          <a:bodyPr/>
          <a:lstStyle/>
          <a:p>
            <a:fld id="{CFE641A9-FDE3-4583-B812-65C4064188F6}" type="slidenum">
              <a:rPr lang="en-CA" smtClean="0"/>
              <a:t>22</a:t>
            </a:fld>
            <a:endParaRPr lang="en-CA"/>
          </a:p>
        </p:txBody>
      </p:sp>
    </p:spTree>
    <p:extLst>
      <p:ext uri="{BB962C8B-B14F-4D97-AF65-F5344CB8AC3E}">
        <p14:creationId xmlns:p14="http://schemas.microsoft.com/office/powerpoint/2010/main" val="3878764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3B617-4F47-3ACB-BD71-153E99ADF3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7A4BCC-80D5-4C3D-513A-1969F301C5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D2D5AB-FA8B-B462-3F99-D8AFFFA6608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A0CE58CC-A89C-DB8D-1C4A-011EE8934143}"/>
              </a:ext>
            </a:extLst>
          </p:cNvPr>
          <p:cNvSpPr>
            <a:spLocks noGrp="1"/>
          </p:cNvSpPr>
          <p:nvPr>
            <p:ph type="sldNum" sz="quarter" idx="5"/>
          </p:nvPr>
        </p:nvSpPr>
        <p:spPr/>
        <p:txBody>
          <a:bodyPr/>
          <a:lstStyle/>
          <a:p>
            <a:fld id="{CFE641A9-FDE3-4583-B812-65C4064188F6}" type="slidenum">
              <a:rPr lang="en-CA" smtClean="0"/>
              <a:t>24</a:t>
            </a:fld>
            <a:endParaRPr lang="en-CA"/>
          </a:p>
        </p:txBody>
      </p:sp>
    </p:spTree>
    <p:extLst>
      <p:ext uri="{BB962C8B-B14F-4D97-AF65-F5344CB8AC3E}">
        <p14:creationId xmlns:p14="http://schemas.microsoft.com/office/powerpoint/2010/main" val="12666771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1EE06-EC41-2887-B8ED-376F549D26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5B921-CA69-E45C-3AD2-5213B2EEE0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CB9419-CAC7-64D7-6265-A9D5A30EF36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403764FC-9DDD-7E08-4052-EF94133CF82A}"/>
              </a:ext>
            </a:extLst>
          </p:cNvPr>
          <p:cNvSpPr>
            <a:spLocks noGrp="1"/>
          </p:cNvSpPr>
          <p:nvPr>
            <p:ph type="sldNum" sz="quarter" idx="5"/>
          </p:nvPr>
        </p:nvSpPr>
        <p:spPr/>
        <p:txBody>
          <a:bodyPr/>
          <a:lstStyle/>
          <a:p>
            <a:fld id="{CFE641A9-FDE3-4583-B812-65C4064188F6}" type="slidenum">
              <a:rPr lang="en-CA" smtClean="0"/>
              <a:t>26</a:t>
            </a:fld>
            <a:endParaRPr lang="en-CA"/>
          </a:p>
        </p:txBody>
      </p:sp>
    </p:spTree>
    <p:extLst>
      <p:ext uri="{BB962C8B-B14F-4D97-AF65-F5344CB8AC3E}">
        <p14:creationId xmlns:p14="http://schemas.microsoft.com/office/powerpoint/2010/main" val="30753979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5AD3C-FADE-36D0-9862-EB1163B148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D1821E-663C-E0C1-64B7-8D2AAAD4D4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ADF94A-11EC-BA07-6F22-BA7642B949D7}"/>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B0ACBB5-5674-97AD-0CB0-5451BC677F01}"/>
              </a:ext>
            </a:extLst>
          </p:cNvPr>
          <p:cNvSpPr>
            <a:spLocks noGrp="1"/>
          </p:cNvSpPr>
          <p:nvPr>
            <p:ph type="sldNum" sz="quarter" idx="5"/>
          </p:nvPr>
        </p:nvSpPr>
        <p:spPr/>
        <p:txBody>
          <a:bodyPr/>
          <a:lstStyle/>
          <a:p>
            <a:fld id="{CFE641A9-FDE3-4583-B812-65C4064188F6}" type="slidenum">
              <a:rPr lang="en-CA" smtClean="0"/>
              <a:t>28</a:t>
            </a:fld>
            <a:endParaRPr lang="en-CA"/>
          </a:p>
        </p:txBody>
      </p:sp>
    </p:spTree>
    <p:extLst>
      <p:ext uri="{BB962C8B-B14F-4D97-AF65-F5344CB8AC3E}">
        <p14:creationId xmlns:p14="http://schemas.microsoft.com/office/powerpoint/2010/main" val="37395091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A95FE-028A-44DE-35F6-B39A8E93C2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1FD383-7670-3BEA-08AD-9FB7AB43C3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7ECF45-17CA-AC2D-D210-3D0C3375B16E}"/>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94E832F1-6778-3FAA-BE7D-E4E57A6F01F5}"/>
              </a:ext>
            </a:extLst>
          </p:cNvPr>
          <p:cNvSpPr>
            <a:spLocks noGrp="1"/>
          </p:cNvSpPr>
          <p:nvPr>
            <p:ph type="sldNum" sz="quarter" idx="5"/>
          </p:nvPr>
        </p:nvSpPr>
        <p:spPr/>
        <p:txBody>
          <a:bodyPr/>
          <a:lstStyle/>
          <a:p>
            <a:fld id="{CFE641A9-FDE3-4583-B812-65C4064188F6}" type="slidenum">
              <a:rPr lang="en-CA" smtClean="0"/>
              <a:t>30</a:t>
            </a:fld>
            <a:endParaRPr lang="en-CA"/>
          </a:p>
        </p:txBody>
      </p:sp>
    </p:spTree>
    <p:extLst>
      <p:ext uri="{BB962C8B-B14F-4D97-AF65-F5344CB8AC3E}">
        <p14:creationId xmlns:p14="http://schemas.microsoft.com/office/powerpoint/2010/main" val="32301574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36454-6061-F357-9A79-A235CBCAE2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2C7E6-AE60-BAF4-D218-0D9624C802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2AE27-F403-D77B-1CE4-1922ABECF557}"/>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8D5BA9CF-8B6E-BF81-CF20-16148B84F084}"/>
              </a:ext>
            </a:extLst>
          </p:cNvPr>
          <p:cNvSpPr>
            <a:spLocks noGrp="1"/>
          </p:cNvSpPr>
          <p:nvPr>
            <p:ph type="sldNum" sz="quarter" idx="5"/>
          </p:nvPr>
        </p:nvSpPr>
        <p:spPr/>
        <p:txBody>
          <a:bodyPr/>
          <a:lstStyle/>
          <a:p>
            <a:fld id="{CFE641A9-FDE3-4583-B812-65C4064188F6}" type="slidenum">
              <a:rPr lang="en-CA" smtClean="0"/>
              <a:t>32</a:t>
            </a:fld>
            <a:endParaRPr lang="en-CA"/>
          </a:p>
        </p:txBody>
      </p:sp>
    </p:spTree>
    <p:extLst>
      <p:ext uri="{BB962C8B-B14F-4D97-AF65-F5344CB8AC3E}">
        <p14:creationId xmlns:p14="http://schemas.microsoft.com/office/powerpoint/2010/main" val="3554615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D2B85-E456-CBE6-7C55-660A21742A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334AFA-556F-F79B-CB7A-6940FF7933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FBAB81-60F1-D48B-534D-04B373253267}"/>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F8183899-E4DD-3133-BD8E-89E713ED66F6}"/>
              </a:ext>
            </a:extLst>
          </p:cNvPr>
          <p:cNvSpPr>
            <a:spLocks noGrp="1"/>
          </p:cNvSpPr>
          <p:nvPr>
            <p:ph type="sldNum" sz="quarter" idx="5"/>
          </p:nvPr>
        </p:nvSpPr>
        <p:spPr/>
        <p:txBody>
          <a:bodyPr/>
          <a:lstStyle/>
          <a:p>
            <a:fld id="{CFE641A9-FDE3-4583-B812-65C4064188F6}" type="slidenum">
              <a:rPr lang="en-CA" smtClean="0"/>
              <a:t>35</a:t>
            </a:fld>
            <a:endParaRPr lang="en-CA"/>
          </a:p>
        </p:txBody>
      </p:sp>
    </p:spTree>
    <p:extLst>
      <p:ext uri="{BB962C8B-B14F-4D97-AF65-F5344CB8AC3E}">
        <p14:creationId xmlns:p14="http://schemas.microsoft.com/office/powerpoint/2010/main" val="2978594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ABD74-7CFB-A044-1358-5D03AFF4F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964EE4-7CE1-BE92-E31C-15DC12729D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6FB210-73E7-E3E4-2EB1-5213DB8A4066}"/>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5F9253F-5BA8-D860-4AA1-6495704F8740}"/>
              </a:ext>
            </a:extLst>
          </p:cNvPr>
          <p:cNvSpPr>
            <a:spLocks noGrp="1"/>
          </p:cNvSpPr>
          <p:nvPr>
            <p:ph type="sldNum" sz="quarter" idx="5"/>
          </p:nvPr>
        </p:nvSpPr>
        <p:spPr/>
        <p:txBody>
          <a:bodyPr/>
          <a:lstStyle/>
          <a:p>
            <a:fld id="{CFE641A9-FDE3-4583-B812-65C4064188F6}" type="slidenum">
              <a:rPr lang="en-CA" smtClean="0"/>
              <a:t>37</a:t>
            </a:fld>
            <a:endParaRPr lang="en-CA"/>
          </a:p>
        </p:txBody>
      </p:sp>
    </p:spTree>
    <p:extLst>
      <p:ext uri="{BB962C8B-B14F-4D97-AF65-F5344CB8AC3E}">
        <p14:creationId xmlns:p14="http://schemas.microsoft.com/office/powerpoint/2010/main" val="14154364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8B9B7-AA58-4CCF-7FBD-2FAEE5CE1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D391BD-E210-773F-DA51-92AB6912AD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644E31-2BBF-CA80-62DE-B11A84511CAF}"/>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E38057C-6C08-54ED-4358-46C9C404CEFF}"/>
              </a:ext>
            </a:extLst>
          </p:cNvPr>
          <p:cNvSpPr>
            <a:spLocks noGrp="1"/>
          </p:cNvSpPr>
          <p:nvPr>
            <p:ph type="sldNum" sz="quarter" idx="5"/>
          </p:nvPr>
        </p:nvSpPr>
        <p:spPr/>
        <p:txBody>
          <a:bodyPr/>
          <a:lstStyle/>
          <a:p>
            <a:fld id="{CFE641A9-FDE3-4583-B812-65C4064188F6}" type="slidenum">
              <a:rPr lang="en-CA" smtClean="0"/>
              <a:t>39</a:t>
            </a:fld>
            <a:endParaRPr lang="en-CA"/>
          </a:p>
        </p:txBody>
      </p:sp>
    </p:spTree>
    <p:extLst>
      <p:ext uri="{BB962C8B-B14F-4D97-AF65-F5344CB8AC3E}">
        <p14:creationId xmlns:p14="http://schemas.microsoft.com/office/powerpoint/2010/main" val="9863218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FE641A9-FDE3-4583-B812-65C4064188F6}" type="slidenum">
              <a:rPr lang="en-CA" smtClean="0"/>
              <a:t>41</a:t>
            </a:fld>
            <a:endParaRPr lang="en-CA"/>
          </a:p>
        </p:txBody>
      </p:sp>
    </p:spTree>
    <p:extLst>
      <p:ext uri="{BB962C8B-B14F-4D97-AF65-F5344CB8AC3E}">
        <p14:creationId xmlns:p14="http://schemas.microsoft.com/office/powerpoint/2010/main" val="20503611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92951" y="2539093"/>
            <a:ext cx="10606097" cy="1468891"/>
          </a:xfrm>
        </p:spPr>
        <p:txBody>
          <a:bodyPr anchor="t">
            <a:noAutofit/>
          </a:bodyPr>
          <a:lstStyle>
            <a:lvl1pPr algn="ctr">
              <a:lnSpc>
                <a:spcPct val="100000"/>
              </a:lnSpc>
              <a:defRPr sz="4800" cap="all"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792951" y="4376057"/>
            <a:ext cx="10606097" cy="1134837"/>
          </a:xfrm>
        </p:spPr>
        <p:txBody>
          <a:bodyPr/>
          <a:lstStyle>
            <a:lvl1pPr marL="0" indent="0" algn="ctr">
              <a:buNone/>
              <a:defRPr sz="2400">
                <a:solidFill>
                  <a:schemeClr val="bg2"/>
                </a:solidFill>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56127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600">
                <a:solidFill>
                  <a:schemeClr val="accent1"/>
                </a:solidFill>
              </a:defRPr>
            </a:lvl1pPr>
          </a:lstStyle>
          <a:p>
            <a:r>
              <a:rPr lang="en-US" dirty="0"/>
              <a:t>CLICK TO EDIT MASTER TITLE STYLE</a:t>
            </a:r>
          </a:p>
        </p:txBody>
      </p:sp>
      <p:sp>
        <p:nvSpPr>
          <p:cNvPr id="3" name="Content Placeholder 2"/>
          <p:cNvSpPr>
            <a:spLocks noGrp="1"/>
          </p:cNvSpPr>
          <p:nvPr>
            <p:ph idx="1"/>
          </p:nvPr>
        </p:nvSpPr>
        <p:spPr>
          <a:xfrm>
            <a:off x="838200" y="1825625"/>
            <a:ext cx="10515600" cy="368690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a:extLst>
              <a:ext uri="{FF2B5EF4-FFF2-40B4-BE49-F238E27FC236}">
                <a16:creationId xmlns:a16="http://schemas.microsoft.com/office/drawing/2014/main" id="{67BAD23F-0E93-DF4A-8F98-CC7CE27E2020}"/>
              </a:ext>
            </a:extLst>
          </p:cNvPr>
          <p:cNvSpPr txBox="1"/>
          <p:nvPr/>
        </p:nvSpPr>
        <p:spPr>
          <a:xfrm>
            <a:off x="1981329" y="679939"/>
            <a:ext cx="184731" cy="230832"/>
          </a:xfrm>
          <a:prstGeom prst="rect">
            <a:avLst/>
          </a:prstGeom>
          <a:noFill/>
        </p:spPr>
        <p:txBody>
          <a:bodyPr wrap="none" rtlCol="0">
            <a:spAutoFit/>
          </a:bodyPr>
          <a:lstStyle/>
          <a:p>
            <a:endParaRPr lang="en-US" sz="900" dirty="0"/>
          </a:p>
        </p:txBody>
      </p:sp>
    </p:spTree>
    <p:extLst>
      <p:ext uri="{BB962C8B-B14F-4D97-AF65-F5344CB8AC3E}">
        <p14:creationId xmlns:p14="http://schemas.microsoft.com/office/powerpoint/2010/main" val="3238325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lumn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cap="all" baseline="0"/>
            </a:lvl1pPr>
          </a:lstStyle>
          <a:p>
            <a:r>
              <a:rPr lang="en-US"/>
              <a:t>Click to edit Master title style</a:t>
            </a:r>
            <a:endParaRPr lang="en-US" dirty="0"/>
          </a:p>
        </p:txBody>
      </p:sp>
      <p:sp>
        <p:nvSpPr>
          <p:cNvPr id="3" name="Content Placeholder 2"/>
          <p:cNvSpPr>
            <a:spLocks noGrp="1"/>
          </p:cNvSpPr>
          <p:nvPr>
            <p:ph sz="half" idx="1"/>
          </p:nvPr>
        </p:nvSpPr>
        <p:spPr>
          <a:xfrm>
            <a:off x="838200" y="1825624"/>
            <a:ext cx="5181600" cy="45506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378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4393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Highlight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cap="all" baseline="0">
                <a:solidFill>
                  <a:schemeClr val="bg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825625"/>
            <a:ext cx="10515600" cy="3481161"/>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02183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AADA339-B7CC-2B4C-9CB9-A33E03B63410}"/>
              </a:ext>
            </a:extLst>
          </p:cNvPr>
          <p:cNvSpPr>
            <a:spLocks noGrp="1"/>
          </p:cNvSpPr>
          <p:nvPr>
            <p:ph type="ctrTitle"/>
          </p:nvPr>
        </p:nvSpPr>
        <p:spPr>
          <a:xfrm>
            <a:off x="792951" y="2785277"/>
            <a:ext cx="10606097" cy="1468891"/>
          </a:xfrm>
        </p:spPr>
        <p:txBody>
          <a:bodyPr anchor="t">
            <a:noAutofit/>
          </a:bodyPr>
          <a:lstStyle>
            <a:lvl1pPr algn="ctr">
              <a:lnSpc>
                <a:spcPct val="100000"/>
              </a:lnSpc>
              <a:defRPr sz="4000" cap="all" baseline="0">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2810819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for large charts/images/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8118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tarburs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42831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ADD TITLE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Arial" panose="020B0604020202020204" pitchFamily="34" charset="0"/>
                <a:cs typeface="Arial" panose="020B0604020202020204" pitchFamily="34" charset="0"/>
              </a:defRPr>
            </a:lvl1pPr>
          </a:lstStyle>
          <a:p>
            <a:fld id="{42324503-65B2-B147-B7D0-901C284D8BB3}" type="datetimeFigureOut">
              <a:rPr lang="en-US" smtClean="0"/>
              <a:t>1/26/2026</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Arial" panose="020B0604020202020204" pitchFamily="34" charset="0"/>
                <a:cs typeface="Arial" panose="020B0604020202020204" pitchFamily="34" charset="0"/>
              </a:defRPr>
            </a:lvl1pPr>
          </a:lstStyle>
          <a:p>
            <a:fld id="{7350AE0C-6DEA-8141-A29A-9086B1E53C3E}" type="slidenum">
              <a:rPr lang="en-US" smtClean="0"/>
              <a:t>‹#›</a:t>
            </a:fld>
            <a:endParaRPr lang="en-US"/>
          </a:p>
        </p:txBody>
      </p:sp>
    </p:spTree>
    <p:extLst>
      <p:ext uri="{BB962C8B-B14F-4D97-AF65-F5344CB8AC3E}">
        <p14:creationId xmlns:p14="http://schemas.microsoft.com/office/powerpoint/2010/main" val="39249328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lgn="l" defTabSz="914355" rtl="0" eaLnBrk="1" latinLnBrk="0" hangingPunct="1">
        <a:lnSpc>
          <a:spcPct val="90000"/>
        </a:lnSpc>
        <a:spcBef>
          <a:spcPct val="0"/>
        </a:spcBef>
        <a:buNone/>
        <a:defRPr sz="3600" b="1" i="0" kern="1200">
          <a:solidFill>
            <a:schemeClr val="accent1"/>
          </a:solidFill>
          <a:latin typeface="Arial" panose="020B0604020202020204" pitchFamily="34" charset="0"/>
          <a:ea typeface="+mj-ea"/>
          <a:cs typeface="Arial" panose="020B0604020202020204" pitchFamily="34" charset="0"/>
        </a:defRPr>
      </a:lvl1pPr>
    </p:titleStyle>
    <p:bodyStyle>
      <a:lvl1pPr marL="228589" indent="-228589" algn="l" defTabSz="914355"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panose="020B0604020202020204" pitchFamily="34" charset="0"/>
          <a:ea typeface="+mn-ea"/>
          <a:cs typeface="Arial" panose="020B0604020202020204" pitchFamily="34" charset="0"/>
        </a:defRPr>
      </a:lvl1pPr>
      <a:lvl2pPr marL="685766" indent="-228589" algn="l" defTabSz="914355"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Arial" panose="020B0604020202020204" pitchFamily="34" charset="0"/>
        </a:defRPr>
      </a:lvl2pPr>
      <a:lvl3pPr marL="1142943" indent="-228589" algn="l" defTabSz="914355"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120" indent="-228589" algn="l" defTabSz="914355"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4pPr>
      <a:lvl5pPr marL="2057297" indent="-228589" algn="l" defTabSz="914355"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5pPr>
      <a:lvl6pPr marL="2514475"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2479D-7383-A062-82D7-132E719500FE}"/>
              </a:ext>
            </a:extLst>
          </p:cNvPr>
          <p:cNvSpPr>
            <a:spLocks noGrp="1"/>
          </p:cNvSpPr>
          <p:nvPr>
            <p:ph type="ctrTitle"/>
          </p:nvPr>
        </p:nvSpPr>
        <p:spPr/>
        <p:txBody>
          <a:bodyPr/>
          <a:lstStyle/>
          <a:p>
            <a:r>
              <a:rPr lang="en-US" dirty="0"/>
              <a:t>SDEV2150</a:t>
            </a:r>
          </a:p>
        </p:txBody>
      </p:sp>
      <p:sp>
        <p:nvSpPr>
          <p:cNvPr id="3" name="Subtitle 2">
            <a:extLst>
              <a:ext uri="{FF2B5EF4-FFF2-40B4-BE49-F238E27FC236}">
                <a16:creationId xmlns:a16="http://schemas.microsoft.com/office/drawing/2014/main" id="{EA870D04-5049-481F-17B3-6CAD79096634}"/>
              </a:ext>
            </a:extLst>
          </p:cNvPr>
          <p:cNvSpPr>
            <a:spLocks noGrp="1"/>
          </p:cNvSpPr>
          <p:nvPr>
            <p:ph type="subTitle" idx="1"/>
          </p:nvPr>
        </p:nvSpPr>
        <p:spPr/>
        <p:txBody>
          <a:bodyPr/>
          <a:lstStyle/>
          <a:p>
            <a:r>
              <a:rPr lang="en-US" dirty="0"/>
              <a:t>Lesson 05: Asynchronous Data</a:t>
            </a:r>
            <a:endParaRPr lang="en-CA" dirty="0"/>
          </a:p>
        </p:txBody>
      </p:sp>
    </p:spTree>
    <p:extLst>
      <p:ext uri="{BB962C8B-B14F-4D97-AF65-F5344CB8AC3E}">
        <p14:creationId xmlns:p14="http://schemas.microsoft.com/office/powerpoint/2010/main" val="2239625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1445B-2B4F-5954-E61B-77DD40F773CF}"/>
              </a:ext>
            </a:extLst>
          </p:cNvPr>
          <p:cNvSpPr>
            <a:spLocks noGrp="1"/>
          </p:cNvSpPr>
          <p:nvPr>
            <p:ph type="title"/>
          </p:nvPr>
        </p:nvSpPr>
        <p:spPr/>
        <p:txBody>
          <a:bodyPr/>
          <a:lstStyle/>
          <a:p>
            <a:r>
              <a:rPr lang="en-US" dirty="0"/>
              <a:t>Lesson Objectives</a:t>
            </a:r>
          </a:p>
        </p:txBody>
      </p:sp>
      <p:sp>
        <p:nvSpPr>
          <p:cNvPr id="3" name="Content Placeholder 2">
            <a:extLst>
              <a:ext uri="{FF2B5EF4-FFF2-40B4-BE49-F238E27FC236}">
                <a16:creationId xmlns:a16="http://schemas.microsoft.com/office/drawing/2014/main" id="{D3165CDC-2775-AA01-C4E4-CBD66BB41CE3}"/>
              </a:ext>
            </a:extLst>
          </p:cNvPr>
          <p:cNvSpPr>
            <a:spLocks noGrp="1"/>
          </p:cNvSpPr>
          <p:nvPr>
            <p:ph idx="1"/>
          </p:nvPr>
        </p:nvSpPr>
        <p:spPr>
          <a:xfrm>
            <a:off x="838200" y="1825625"/>
            <a:ext cx="10515600" cy="739775"/>
          </a:xfrm>
        </p:spPr>
        <p:txBody>
          <a:bodyPr>
            <a:normAutofit/>
          </a:bodyPr>
          <a:lstStyle/>
          <a:p>
            <a:pPr marL="0" indent="0">
              <a:buNone/>
            </a:pPr>
            <a:r>
              <a:rPr lang="en-US" dirty="0"/>
              <a:t>In this lesson, students will:</a:t>
            </a:r>
          </a:p>
        </p:txBody>
      </p:sp>
      <p:pic>
        <p:nvPicPr>
          <p:cNvPr id="5" name="Picture 4">
            <a:extLst>
              <a:ext uri="{FF2B5EF4-FFF2-40B4-BE49-F238E27FC236}">
                <a16:creationId xmlns:a16="http://schemas.microsoft.com/office/drawing/2014/main" id="{DA5B8EDE-9AFE-FCE5-80B7-00DCD555AE0A}"/>
              </a:ext>
            </a:extLst>
          </p:cNvPr>
          <p:cNvPicPr>
            <a:picLocks noChangeAspect="1"/>
          </p:cNvPicPr>
          <p:nvPr/>
        </p:nvPicPr>
        <p:blipFill>
          <a:blip r:embed="rId2"/>
          <a:stretch>
            <a:fillRect/>
          </a:stretch>
        </p:blipFill>
        <p:spPr>
          <a:xfrm>
            <a:off x="941369" y="2975751"/>
            <a:ext cx="4810161" cy="1316850"/>
          </a:xfrm>
          <a:prstGeom prst="rect">
            <a:avLst/>
          </a:prstGeom>
        </p:spPr>
      </p:pic>
      <p:sp>
        <p:nvSpPr>
          <p:cNvPr id="6" name="TextBox 5">
            <a:extLst>
              <a:ext uri="{FF2B5EF4-FFF2-40B4-BE49-F238E27FC236}">
                <a16:creationId xmlns:a16="http://schemas.microsoft.com/office/drawing/2014/main" id="{890812EC-F518-44A4-F463-C751AD15439F}"/>
              </a:ext>
            </a:extLst>
          </p:cNvPr>
          <p:cNvSpPr txBox="1"/>
          <p:nvPr/>
        </p:nvSpPr>
        <p:spPr>
          <a:xfrm>
            <a:off x="1320800" y="4591050"/>
            <a:ext cx="3930650" cy="369332"/>
          </a:xfrm>
          <a:prstGeom prst="rect">
            <a:avLst/>
          </a:prstGeom>
          <a:noFill/>
        </p:spPr>
        <p:txBody>
          <a:bodyPr wrap="square" rtlCol="0">
            <a:spAutoFit/>
          </a:bodyPr>
          <a:lstStyle/>
          <a:p>
            <a:r>
              <a:rPr lang="en-CA" dirty="0"/>
              <a:t>PART-1</a:t>
            </a:r>
          </a:p>
        </p:txBody>
      </p:sp>
      <p:sp>
        <p:nvSpPr>
          <p:cNvPr id="7" name="TextBox 6">
            <a:extLst>
              <a:ext uri="{FF2B5EF4-FFF2-40B4-BE49-F238E27FC236}">
                <a16:creationId xmlns:a16="http://schemas.microsoft.com/office/drawing/2014/main" id="{A887F6CF-5E92-7A6E-500B-A571BF44DB7F}"/>
              </a:ext>
            </a:extLst>
          </p:cNvPr>
          <p:cNvSpPr txBox="1"/>
          <p:nvPr/>
        </p:nvSpPr>
        <p:spPr>
          <a:xfrm>
            <a:off x="8020050" y="4699000"/>
            <a:ext cx="3930650" cy="369332"/>
          </a:xfrm>
          <a:prstGeom prst="rect">
            <a:avLst/>
          </a:prstGeom>
          <a:noFill/>
        </p:spPr>
        <p:txBody>
          <a:bodyPr wrap="square" rtlCol="0">
            <a:spAutoFit/>
          </a:bodyPr>
          <a:lstStyle/>
          <a:p>
            <a:r>
              <a:rPr lang="en-CA" dirty="0"/>
              <a:t>PART-2</a:t>
            </a:r>
          </a:p>
        </p:txBody>
      </p:sp>
      <p:pic>
        <p:nvPicPr>
          <p:cNvPr id="8" name="Picture 7">
            <a:extLst>
              <a:ext uri="{FF2B5EF4-FFF2-40B4-BE49-F238E27FC236}">
                <a16:creationId xmlns:a16="http://schemas.microsoft.com/office/drawing/2014/main" id="{2BDBEE9A-20AF-7417-8B2B-6F67F930FB40}"/>
              </a:ext>
            </a:extLst>
          </p:cNvPr>
          <p:cNvPicPr>
            <a:picLocks noChangeAspect="1"/>
          </p:cNvPicPr>
          <p:nvPr/>
        </p:nvPicPr>
        <p:blipFill>
          <a:blip r:embed="rId2"/>
          <a:stretch>
            <a:fillRect/>
          </a:stretch>
        </p:blipFill>
        <p:spPr>
          <a:xfrm>
            <a:off x="6967519" y="2874151"/>
            <a:ext cx="4810161" cy="1316850"/>
          </a:xfrm>
          <a:prstGeom prst="rect">
            <a:avLst/>
          </a:prstGeom>
        </p:spPr>
      </p:pic>
    </p:spTree>
    <p:extLst>
      <p:ext uri="{BB962C8B-B14F-4D97-AF65-F5344CB8AC3E}">
        <p14:creationId xmlns:p14="http://schemas.microsoft.com/office/powerpoint/2010/main" val="1973787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6C05A-AE25-1768-8A9B-9E1C61225334}"/>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915481B4-3432-EE69-114F-1E97A4260877}"/>
              </a:ext>
            </a:extLst>
          </p:cNvPr>
          <p:cNvSpPr>
            <a:spLocks noGrp="1"/>
          </p:cNvSpPr>
          <p:nvPr>
            <p:ph idx="1"/>
          </p:nvPr>
        </p:nvSpPr>
        <p:spPr/>
        <p:txBody>
          <a:bodyPr/>
          <a:lstStyle/>
          <a:p>
            <a:r>
              <a:rPr lang="en-US" dirty="0"/>
              <a:t>Review synchronous vs asynchronous execution</a:t>
            </a:r>
          </a:p>
          <a:p>
            <a:r>
              <a:rPr lang="en-US" dirty="0"/>
              <a:t>Review </a:t>
            </a:r>
            <a:r>
              <a:rPr lang="en-US" dirty="0">
                <a:latin typeface="Consolas" panose="020B0609020204030204" pitchFamily="49" charset="0"/>
                <a:cs typeface="Consolas" panose="020B0609020204030204" pitchFamily="49" charset="0"/>
              </a:rPr>
              <a:t>fetch</a:t>
            </a:r>
            <a:r>
              <a:rPr lang="en-US" dirty="0"/>
              <a:t> and async data loading</a:t>
            </a:r>
          </a:p>
          <a:p>
            <a:r>
              <a:rPr lang="en-US" dirty="0"/>
              <a:t>Instructor demo</a:t>
            </a:r>
          </a:p>
          <a:p>
            <a:r>
              <a:rPr lang="en-US" dirty="0"/>
              <a:t>Refactor: component-driven fetching</a:t>
            </a:r>
          </a:p>
          <a:p>
            <a:r>
              <a:rPr lang="en-US" dirty="0"/>
              <a:t>Practice and reflection</a:t>
            </a:r>
          </a:p>
        </p:txBody>
      </p:sp>
    </p:spTree>
    <p:extLst>
      <p:ext uri="{BB962C8B-B14F-4D97-AF65-F5344CB8AC3E}">
        <p14:creationId xmlns:p14="http://schemas.microsoft.com/office/powerpoint/2010/main" val="1231324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AEED0-DDE6-8C55-40FD-B519647BD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91B982-B120-50FB-49C1-AD22E1B10A75}"/>
              </a:ext>
            </a:extLst>
          </p:cNvPr>
          <p:cNvSpPr>
            <a:spLocks noGrp="1"/>
          </p:cNvSpPr>
          <p:nvPr>
            <p:ph type="title"/>
          </p:nvPr>
        </p:nvSpPr>
        <p:spPr>
          <a:xfrm>
            <a:off x="838200" y="2766218"/>
            <a:ext cx="10515600" cy="1325563"/>
          </a:xfrm>
        </p:spPr>
        <p:txBody>
          <a:bodyPr/>
          <a:lstStyle/>
          <a:p>
            <a:pPr algn="ctr"/>
            <a:r>
              <a:rPr lang="en-CA" dirty="0"/>
              <a:t>Connecting</a:t>
            </a:r>
          </a:p>
        </p:txBody>
      </p:sp>
    </p:spTree>
    <p:extLst>
      <p:ext uri="{BB962C8B-B14F-4D97-AF65-F5344CB8AC3E}">
        <p14:creationId xmlns:p14="http://schemas.microsoft.com/office/powerpoint/2010/main" val="1260317111"/>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6D11-4831-CC29-0D8E-209556F11CC1}"/>
              </a:ext>
            </a:extLst>
          </p:cNvPr>
          <p:cNvSpPr>
            <a:spLocks noGrp="1"/>
          </p:cNvSpPr>
          <p:nvPr>
            <p:ph type="title"/>
          </p:nvPr>
        </p:nvSpPr>
        <p:spPr/>
        <p:txBody>
          <a:bodyPr/>
          <a:lstStyle/>
          <a:p>
            <a:r>
              <a:rPr lang="en-CA" dirty="0"/>
              <a:t>Original Hard-coded Data</a:t>
            </a:r>
          </a:p>
        </p:txBody>
      </p:sp>
      <p:sp>
        <p:nvSpPr>
          <p:cNvPr id="3" name="Content Placeholder 2">
            <a:extLst>
              <a:ext uri="{FF2B5EF4-FFF2-40B4-BE49-F238E27FC236}">
                <a16:creationId xmlns:a16="http://schemas.microsoft.com/office/drawing/2014/main" id="{FE9D48C1-8FF4-9D7E-FD80-BC1303B0C199}"/>
              </a:ext>
            </a:extLst>
          </p:cNvPr>
          <p:cNvSpPr>
            <a:spLocks noGrp="1"/>
          </p:cNvSpPr>
          <p:nvPr>
            <p:ph idx="1"/>
          </p:nvPr>
        </p:nvSpPr>
        <p:spPr>
          <a:xfrm>
            <a:off x="8409214" y="1825625"/>
            <a:ext cx="3380015" cy="3686901"/>
          </a:xfrm>
        </p:spPr>
        <p:txBody>
          <a:bodyPr>
            <a:normAutofit fontScale="92500"/>
          </a:bodyPr>
          <a:lstStyle/>
          <a:p>
            <a:r>
              <a:rPr lang="en-US" dirty="0"/>
              <a:t>Currently, the project uses static data.</a:t>
            </a:r>
          </a:p>
          <a:p>
            <a:r>
              <a:rPr lang="en-US" dirty="0"/>
              <a:t>Every time you want to update resources, you must edit main.js manually.</a:t>
            </a:r>
          </a:p>
          <a:p>
            <a:r>
              <a:rPr lang="en-US" dirty="0"/>
              <a:t>This is not scalable.</a:t>
            </a:r>
            <a:endParaRPr lang="en-CA" dirty="0"/>
          </a:p>
        </p:txBody>
      </p:sp>
      <p:pic>
        <p:nvPicPr>
          <p:cNvPr id="5" name="Picture 4">
            <a:extLst>
              <a:ext uri="{FF2B5EF4-FFF2-40B4-BE49-F238E27FC236}">
                <a16:creationId xmlns:a16="http://schemas.microsoft.com/office/drawing/2014/main" id="{1320232D-73EE-9E99-B033-C258CB38C217}"/>
              </a:ext>
            </a:extLst>
          </p:cNvPr>
          <p:cNvPicPr>
            <a:picLocks noChangeAspect="1"/>
          </p:cNvPicPr>
          <p:nvPr/>
        </p:nvPicPr>
        <p:blipFill>
          <a:blip r:embed="rId2"/>
          <a:stretch>
            <a:fillRect/>
          </a:stretch>
        </p:blipFill>
        <p:spPr>
          <a:xfrm>
            <a:off x="182914" y="2018266"/>
            <a:ext cx="7893134" cy="3557941"/>
          </a:xfrm>
          <a:prstGeom prst="rect">
            <a:avLst/>
          </a:prstGeom>
        </p:spPr>
      </p:pic>
    </p:spTree>
    <p:extLst>
      <p:ext uri="{BB962C8B-B14F-4D97-AF65-F5344CB8AC3E}">
        <p14:creationId xmlns:p14="http://schemas.microsoft.com/office/powerpoint/2010/main" val="1833113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C1F16-3474-C259-3A81-449262C38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0D7A18-9B1C-5D39-C1F3-CA18B29F3D4D}"/>
              </a:ext>
            </a:extLst>
          </p:cNvPr>
          <p:cNvSpPr>
            <a:spLocks noGrp="1"/>
          </p:cNvSpPr>
          <p:nvPr>
            <p:ph type="title"/>
          </p:nvPr>
        </p:nvSpPr>
        <p:spPr/>
        <p:txBody>
          <a:bodyPr/>
          <a:lstStyle/>
          <a:p>
            <a:r>
              <a:rPr lang="en-CA" dirty="0"/>
              <a:t>Why async matters</a:t>
            </a:r>
            <a:endParaRPr lang="en-CA" b="0" dirty="0"/>
          </a:p>
        </p:txBody>
      </p:sp>
      <p:sp>
        <p:nvSpPr>
          <p:cNvPr id="3" name="Content Placeholder 2">
            <a:extLst>
              <a:ext uri="{FF2B5EF4-FFF2-40B4-BE49-F238E27FC236}">
                <a16:creationId xmlns:a16="http://schemas.microsoft.com/office/drawing/2014/main" id="{7FCA2C2F-55AB-166E-85E7-C1815433E8A4}"/>
              </a:ext>
            </a:extLst>
          </p:cNvPr>
          <p:cNvSpPr>
            <a:spLocks noGrp="1"/>
          </p:cNvSpPr>
          <p:nvPr>
            <p:ph idx="1"/>
          </p:nvPr>
        </p:nvSpPr>
        <p:spPr/>
        <p:txBody>
          <a:bodyPr>
            <a:normAutofit lnSpcReduction="10000"/>
          </a:bodyPr>
          <a:lstStyle/>
          <a:p>
            <a:pPr marL="0" indent="0">
              <a:buNone/>
            </a:pPr>
            <a:r>
              <a:rPr lang="en-US" dirty="0"/>
              <a:t>JavaScript runs on a </a:t>
            </a:r>
            <a:r>
              <a:rPr lang="en-US" b="1" dirty="0">
                <a:solidFill>
                  <a:schemeClr val="accent2"/>
                </a:solidFill>
              </a:rPr>
              <a:t>single thread</a:t>
            </a:r>
            <a:r>
              <a:rPr lang="en-US" dirty="0"/>
              <a:t>. If we made network requests or heavy operations synchronously:</a:t>
            </a:r>
          </a:p>
          <a:p>
            <a:pPr lvl="1"/>
            <a:r>
              <a:rPr lang="en-US" dirty="0"/>
              <a:t>The UI would freeze</a:t>
            </a:r>
          </a:p>
          <a:p>
            <a:pPr lvl="1"/>
            <a:r>
              <a:rPr lang="en-US" dirty="0"/>
              <a:t>Users could not interact with the page</a:t>
            </a:r>
          </a:p>
          <a:p>
            <a:pPr lvl="1"/>
            <a:r>
              <a:rPr lang="en-US" dirty="0"/>
              <a:t>Results would feel slow and unresponsive</a:t>
            </a:r>
          </a:p>
          <a:p>
            <a:pPr marL="0" indent="0">
              <a:buNone/>
            </a:pPr>
            <a:r>
              <a:rPr lang="en-US" dirty="0"/>
              <a:t>Asynchronous programming allows us to:</a:t>
            </a:r>
          </a:p>
          <a:p>
            <a:pPr lvl="1"/>
            <a:r>
              <a:rPr lang="en-US" dirty="0">
                <a:solidFill>
                  <a:schemeClr val="accent2"/>
                </a:solidFill>
              </a:rPr>
              <a:t>Fetch data in the background</a:t>
            </a:r>
          </a:p>
          <a:p>
            <a:pPr lvl="1"/>
            <a:r>
              <a:rPr lang="en-US" dirty="0">
                <a:solidFill>
                  <a:schemeClr val="accent2"/>
                </a:solidFill>
              </a:rPr>
              <a:t>Keep the UI responsive</a:t>
            </a:r>
          </a:p>
          <a:p>
            <a:pPr lvl="1"/>
            <a:r>
              <a:rPr lang="en-US" dirty="0">
                <a:solidFill>
                  <a:schemeClr val="accent2"/>
                </a:solidFill>
              </a:rPr>
              <a:t>Update components only when data is ready</a:t>
            </a:r>
          </a:p>
          <a:p>
            <a:pPr marL="0" indent="0">
              <a:buNone/>
            </a:pPr>
            <a:endParaRPr lang="en-CA" dirty="0"/>
          </a:p>
        </p:txBody>
      </p:sp>
    </p:spTree>
    <p:extLst>
      <p:ext uri="{BB962C8B-B14F-4D97-AF65-F5344CB8AC3E}">
        <p14:creationId xmlns:p14="http://schemas.microsoft.com/office/powerpoint/2010/main" val="2392794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9B9B3-C0CB-9C5F-BC7A-606BAB94CD2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4284841F-8AA5-A363-B4A3-2447ECF2C673}"/>
              </a:ext>
            </a:extLst>
          </p:cNvPr>
          <p:cNvSpPr>
            <a:spLocks noGrp="1"/>
          </p:cNvSpPr>
          <p:nvPr>
            <p:ph idx="1"/>
          </p:nvPr>
        </p:nvSpPr>
        <p:spPr/>
        <p:txBody>
          <a:bodyPr/>
          <a:lstStyle/>
          <a:p>
            <a:endParaRPr lang="en-CA" dirty="0"/>
          </a:p>
        </p:txBody>
      </p:sp>
      <p:sp>
        <p:nvSpPr>
          <p:cNvPr id="5" name="TextBox 4">
            <a:extLst>
              <a:ext uri="{FF2B5EF4-FFF2-40B4-BE49-F238E27FC236}">
                <a16:creationId xmlns:a16="http://schemas.microsoft.com/office/drawing/2014/main" id="{C5EFFF75-6EBA-5093-6FDA-714D11EA6663}"/>
              </a:ext>
            </a:extLst>
          </p:cNvPr>
          <p:cNvSpPr txBox="1"/>
          <p:nvPr/>
        </p:nvSpPr>
        <p:spPr>
          <a:xfrm>
            <a:off x="326571" y="1028343"/>
            <a:ext cx="11865429" cy="3970318"/>
          </a:xfrm>
          <a:prstGeom prst="rect">
            <a:avLst/>
          </a:prstGeom>
          <a:noFill/>
        </p:spPr>
        <p:txBody>
          <a:bodyPr wrap="square">
            <a:spAutoFit/>
          </a:bodyPr>
          <a:lstStyle/>
          <a:p>
            <a:r>
              <a:rPr lang="en-CA" dirty="0"/>
              <a:t>// main.js</a:t>
            </a:r>
          </a:p>
          <a:p>
            <a:endParaRPr lang="en-CA" dirty="0"/>
          </a:p>
          <a:p>
            <a:r>
              <a:rPr lang="en-CA" dirty="0"/>
              <a:t>// Fetch resource data from a JSON file asynchronously</a:t>
            </a:r>
          </a:p>
          <a:p>
            <a:r>
              <a:rPr lang="en-CA" dirty="0"/>
              <a:t>async function </a:t>
            </a:r>
            <a:r>
              <a:rPr lang="en-CA" dirty="0" err="1"/>
              <a:t>getResources</a:t>
            </a:r>
            <a:r>
              <a:rPr lang="en-CA" dirty="0"/>
              <a:t>() {</a:t>
            </a:r>
          </a:p>
          <a:p>
            <a:r>
              <a:rPr lang="en-CA" dirty="0"/>
              <a:t>  try {</a:t>
            </a:r>
          </a:p>
          <a:p>
            <a:r>
              <a:rPr lang="en-CA" dirty="0"/>
              <a:t>    const response = await fetch('./data/</a:t>
            </a:r>
            <a:r>
              <a:rPr lang="en-CA" dirty="0" err="1"/>
              <a:t>resources.json</a:t>
            </a:r>
            <a:r>
              <a:rPr lang="en-CA" dirty="0"/>
              <a:t>'); // fetch returns a promise</a:t>
            </a:r>
          </a:p>
          <a:p>
            <a:r>
              <a:rPr lang="en-CA" dirty="0"/>
              <a:t>    if (!</a:t>
            </a:r>
            <a:r>
              <a:rPr lang="en-CA" dirty="0" err="1"/>
              <a:t>response.ok</a:t>
            </a:r>
            <a:r>
              <a:rPr lang="en-CA" dirty="0"/>
              <a:t>) throw new Error('Network response was not ok');</a:t>
            </a:r>
          </a:p>
          <a:p>
            <a:r>
              <a:rPr lang="en-CA" dirty="0"/>
              <a:t>    const </a:t>
            </a:r>
            <a:r>
              <a:rPr lang="en-CA" dirty="0" err="1"/>
              <a:t>resultData</a:t>
            </a:r>
            <a:r>
              <a:rPr lang="en-CA" dirty="0"/>
              <a:t> = await </a:t>
            </a:r>
            <a:r>
              <a:rPr lang="en-CA" dirty="0" err="1"/>
              <a:t>response.json</a:t>
            </a:r>
            <a:r>
              <a:rPr lang="en-CA" dirty="0"/>
              <a:t>(); // parse JSON asynchronously</a:t>
            </a:r>
          </a:p>
          <a:p>
            <a:r>
              <a:rPr lang="en-CA" dirty="0"/>
              <a:t>    return </a:t>
            </a:r>
            <a:r>
              <a:rPr lang="en-CA" dirty="0" err="1"/>
              <a:t>resultData</a:t>
            </a:r>
            <a:r>
              <a:rPr lang="en-CA" dirty="0"/>
              <a:t>;</a:t>
            </a:r>
          </a:p>
          <a:p>
            <a:r>
              <a:rPr lang="en-CA" dirty="0"/>
              <a:t>  } catch (error) {</a:t>
            </a:r>
          </a:p>
          <a:p>
            <a:r>
              <a:rPr lang="en-CA" dirty="0"/>
              <a:t>    </a:t>
            </a:r>
            <a:r>
              <a:rPr lang="en-CA" dirty="0" err="1"/>
              <a:t>console.error</a:t>
            </a:r>
            <a:r>
              <a:rPr lang="en-CA" dirty="0"/>
              <a:t>('Error fetching resources:', error);</a:t>
            </a:r>
          </a:p>
          <a:p>
            <a:r>
              <a:rPr lang="en-CA" dirty="0"/>
              <a:t>    return []; // fallback to empty array if error occurs</a:t>
            </a:r>
          </a:p>
          <a:p>
            <a:r>
              <a:rPr lang="en-CA" dirty="0"/>
              <a:t>  }</a:t>
            </a:r>
          </a:p>
          <a:p>
            <a:r>
              <a:rPr lang="en-CA" dirty="0"/>
              <a:t>}</a:t>
            </a:r>
          </a:p>
        </p:txBody>
      </p:sp>
    </p:spTree>
    <p:extLst>
      <p:ext uri="{BB962C8B-B14F-4D97-AF65-F5344CB8AC3E}">
        <p14:creationId xmlns:p14="http://schemas.microsoft.com/office/powerpoint/2010/main" val="3986659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F388F-1EC2-A4C9-640E-9BF8D57B612F}"/>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AD981135-DA92-CA80-2930-80FC2B27FDFB}"/>
              </a:ext>
            </a:extLst>
          </p:cNvPr>
          <p:cNvSpPr>
            <a:spLocks noGrp="1"/>
          </p:cNvSpPr>
          <p:nvPr>
            <p:ph idx="1"/>
          </p:nvPr>
        </p:nvSpPr>
        <p:spPr/>
        <p:txBody>
          <a:bodyPr/>
          <a:lstStyle/>
          <a:p>
            <a:r>
              <a:rPr lang="en-US" dirty="0"/>
              <a:t>Think of async like ordering food:</a:t>
            </a:r>
          </a:p>
          <a:p>
            <a:r>
              <a:rPr lang="en-US" dirty="0"/>
              <a:t>You place the order (fetch)</a:t>
            </a:r>
          </a:p>
          <a:p>
            <a:r>
              <a:rPr lang="en-US" dirty="0"/>
              <a:t>You don’t stand frozen at the counter</a:t>
            </a:r>
          </a:p>
          <a:p>
            <a:r>
              <a:rPr lang="en-US" dirty="0"/>
              <a:t>You get notified when it’s ready</a:t>
            </a:r>
          </a:p>
          <a:p>
            <a:r>
              <a:rPr lang="en-US" dirty="0"/>
              <a:t>Then you eat (render)</a:t>
            </a:r>
          </a:p>
          <a:p>
            <a:r>
              <a:rPr lang="en-US" dirty="0" err="1"/>
              <a:t>eturns</a:t>
            </a:r>
            <a:r>
              <a:rPr lang="en-US" dirty="0"/>
              <a:t> a Promise.</a:t>
            </a:r>
            <a:endParaRPr lang="en-CA" dirty="0"/>
          </a:p>
        </p:txBody>
      </p:sp>
    </p:spTree>
    <p:extLst>
      <p:ext uri="{BB962C8B-B14F-4D97-AF65-F5344CB8AC3E}">
        <p14:creationId xmlns:p14="http://schemas.microsoft.com/office/powerpoint/2010/main" val="1935363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A52A6-B6C0-A97B-A6FC-A05487E602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42162D-6F79-9F91-305A-598E214D9938}"/>
              </a:ext>
            </a:extLst>
          </p:cNvPr>
          <p:cNvSpPr>
            <a:spLocks noGrp="1"/>
          </p:cNvSpPr>
          <p:nvPr>
            <p:ph type="title"/>
          </p:nvPr>
        </p:nvSpPr>
        <p:spPr>
          <a:xfrm>
            <a:off x="838200" y="2766218"/>
            <a:ext cx="10515600" cy="1325563"/>
          </a:xfrm>
        </p:spPr>
        <p:txBody>
          <a:bodyPr/>
          <a:lstStyle/>
          <a:p>
            <a:pPr algn="ctr"/>
            <a:r>
              <a:rPr lang="en-CA" dirty="0"/>
              <a:t>Mental Model</a:t>
            </a:r>
          </a:p>
        </p:txBody>
      </p:sp>
    </p:spTree>
    <p:extLst>
      <p:ext uri="{BB962C8B-B14F-4D97-AF65-F5344CB8AC3E}">
        <p14:creationId xmlns:p14="http://schemas.microsoft.com/office/powerpoint/2010/main" val="1731326145"/>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21949-70E6-524C-C90E-FD61F5759D1C}"/>
              </a:ext>
            </a:extLst>
          </p:cNvPr>
          <p:cNvSpPr>
            <a:spLocks noGrp="1"/>
          </p:cNvSpPr>
          <p:nvPr>
            <p:ph type="title"/>
          </p:nvPr>
        </p:nvSpPr>
        <p:spPr/>
        <p:txBody>
          <a:bodyPr/>
          <a:lstStyle/>
          <a:p>
            <a:r>
              <a:rPr lang="en-US" dirty="0"/>
              <a:t>JavaScript does not block</a:t>
            </a:r>
          </a:p>
        </p:txBody>
      </p:sp>
      <p:sp>
        <p:nvSpPr>
          <p:cNvPr id="3" name="Content Placeholder 2">
            <a:extLst>
              <a:ext uri="{FF2B5EF4-FFF2-40B4-BE49-F238E27FC236}">
                <a16:creationId xmlns:a16="http://schemas.microsoft.com/office/drawing/2014/main" id="{EB78D638-C70C-9E14-E05B-EC549CBAB269}"/>
              </a:ext>
            </a:extLst>
          </p:cNvPr>
          <p:cNvSpPr>
            <a:spLocks noGrp="1"/>
          </p:cNvSpPr>
          <p:nvPr>
            <p:ph idx="1"/>
          </p:nvPr>
        </p:nvSpPr>
        <p:spPr/>
        <p:txBody>
          <a:bodyPr/>
          <a:lstStyle/>
          <a:p>
            <a:r>
              <a:rPr lang="en-US" dirty="0"/>
              <a:t>Long operations move off the call stack</a:t>
            </a:r>
          </a:p>
          <a:p>
            <a:r>
              <a:rPr lang="en-US" dirty="0"/>
              <a:t>Results come back later</a:t>
            </a:r>
          </a:p>
          <a:p>
            <a:r>
              <a:rPr lang="en-US" dirty="0"/>
              <a:t>Code reacts when data arrives</a:t>
            </a:r>
          </a:p>
          <a:p>
            <a:endParaRPr lang="en-US" dirty="0"/>
          </a:p>
          <a:p>
            <a:pPr marL="0" indent="0">
              <a:buNone/>
            </a:pPr>
            <a:r>
              <a:rPr lang="en-US" dirty="0"/>
              <a:t>This lesson focuses on </a:t>
            </a:r>
            <a:r>
              <a:rPr lang="en-US" i="1" dirty="0"/>
              <a:t>reacting to data over time</a:t>
            </a:r>
            <a:r>
              <a:rPr lang="en-US" dirty="0"/>
              <a:t>.</a:t>
            </a:r>
          </a:p>
        </p:txBody>
      </p:sp>
    </p:spTree>
    <p:extLst>
      <p:ext uri="{BB962C8B-B14F-4D97-AF65-F5344CB8AC3E}">
        <p14:creationId xmlns:p14="http://schemas.microsoft.com/office/powerpoint/2010/main" val="404546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E8DDC-5CAF-8C2E-AC71-BD16391A4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3FF2E8-4E54-ED2C-0752-EE01D1D6811E}"/>
              </a:ext>
            </a:extLst>
          </p:cNvPr>
          <p:cNvSpPr>
            <a:spLocks noGrp="1"/>
          </p:cNvSpPr>
          <p:nvPr>
            <p:ph type="title"/>
          </p:nvPr>
        </p:nvSpPr>
        <p:spPr>
          <a:xfrm>
            <a:off x="838200" y="2766218"/>
            <a:ext cx="10515600" cy="1325563"/>
          </a:xfrm>
        </p:spPr>
        <p:txBody>
          <a:bodyPr/>
          <a:lstStyle/>
          <a:p>
            <a:pPr algn="ctr"/>
            <a:r>
              <a:rPr lang="en-CA" dirty="0"/>
              <a:t>Promises</a:t>
            </a:r>
          </a:p>
        </p:txBody>
      </p:sp>
      <p:sp>
        <p:nvSpPr>
          <p:cNvPr id="4" name="TextBox 3">
            <a:extLst>
              <a:ext uri="{FF2B5EF4-FFF2-40B4-BE49-F238E27FC236}">
                <a16:creationId xmlns:a16="http://schemas.microsoft.com/office/drawing/2014/main" id="{C567939A-E194-2095-B487-D62B8339AC58}"/>
              </a:ext>
            </a:extLst>
          </p:cNvPr>
          <p:cNvSpPr txBox="1"/>
          <p:nvPr/>
        </p:nvSpPr>
        <p:spPr>
          <a:xfrm>
            <a:off x="595993" y="4091781"/>
            <a:ext cx="11315700" cy="923330"/>
          </a:xfrm>
          <a:prstGeom prst="rect">
            <a:avLst/>
          </a:prstGeom>
          <a:noFill/>
        </p:spPr>
        <p:txBody>
          <a:bodyPr wrap="square">
            <a:spAutoFit/>
          </a:bodyPr>
          <a:lstStyle/>
          <a:p>
            <a:r>
              <a:rPr lang="en-US" dirty="0">
                <a:solidFill>
                  <a:schemeClr val="bg1"/>
                </a:solidFill>
              </a:rPr>
              <a:t>In JavaScript, a function or method returns a Promise object when it needs to manage an operation that cannot be completed immediately, such as a network request or a timer. The promise acts as a placeholder for the eventual result or error. </a:t>
            </a:r>
            <a:endParaRPr lang="en-CA" dirty="0">
              <a:solidFill>
                <a:schemeClr val="bg1"/>
              </a:solidFill>
            </a:endParaRPr>
          </a:p>
        </p:txBody>
      </p:sp>
    </p:spTree>
    <p:extLst>
      <p:ext uri="{BB962C8B-B14F-4D97-AF65-F5344CB8AC3E}">
        <p14:creationId xmlns:p14="http://schemas.microsoft.com/office/powerpoint/2010/main" val="1484660151"/>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39576-5427-0ADA-10F4-865ACD2F3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E519A-A233-24D7-52BE-831AD2B54B2A}"/>
              </a:ext>
            </a:extLst>
          </p:cNvPr>
          <p:cNvSpPr>
            <a:spLocks noGrp="1"/>
          </p:cNvSpPr>
          <p:nvPr>
            <p:ph type="title"/>
          </p:nvPr>
        </p:nvSpPr>
        <p:spPr/>
        <p:txBody>
          <a:bodyPr/>
          <a:lstStyle/>
          <a:p>
            <a:r>
              <a:rPr lang="en-US" dirty="0"/>
              <a:t>What a Promise represents</a:t>
            </a:r>
          </a:p>
        </p:txBody>
      </p:sp>
      <p:sp>
        <p:nvSpPr>
          <p:cNvPr id="3" name="Content Placeholder 2">
            <a:extLst>
              <a:ext uri="{FF2B5EF4-FFF2-40B4-BE49-F238E27FC236}">
                <a16:creationId xmlns:a16="http://schemas.microsoft.com/office/drawing/2014/main" id="{EBB6DEC3-94B8-5AF7-B03D-628C50C5AE18}"/>
              </a:ext>
            </a:extLst>
          </p:cNvPr>
          <p:cNvSpPr>
            <a:spLocks noGrp="1"/>
          </p:cNvSpPr>
          <p:nvPr>
            <p:ph idx="1"/>
          </p:nvPr>
        </p:nvSpPr>
        <p:spPr/>
        <p:txBody>
          <a:bodyPr>
            <a:normAutofit fontScale="92500" lnSpcReduction="10000"/>
          </a:bodyPr>
          <a:lstStyle/>
          <a:p>
            <a:r>
              <a:rPr lang="en-US" dirty="0"/>
              <a:t>JavaScript uses </a:t>
            </a:r>
            <a:r>
              <a:rPr lang="en-US" b="1" dirty="0"/>
              <a:t>Promises</a:t>
            </a:r>
            <a:r>
              <a:rPr lang="en-US" dirty="0"/>
              <a:t> for async operations. The Fetch API returns a promise.</a:t>
            </a:r>
          </a:p>
          <a:p>
            <a:r>
              <a:rPr lang="en-US" dirty="0"/>
              <a:t>A value that will exist </a:t>
            </a:r>
            <a:r>
              <a:rPr lang="en-US" b="1" dirty="0"/>
              <a:t>later</a:t>
            </a:r>
            <a:endParaRPr lang="en-US" dirty="0"/>
          </a:p>
          <a:p>
            <a:r>
              <a:rPr lang="en-US" dirty="0"/>
              <a:t>One of three states:</a:t>
            </a:r>
          </a:p>
          <a:p>
            <a:pPr lvl="1"/>
            <a:r>
              <a:rPr lang="en-US" dirty="0"/>
              <a:t>pending</a:t>
            </a:r>
          </a:p>
          <a:p>
            <a:pPr lvl="1"/>
            <a:r>
              <a:rPr lang="en-US" dirty="0"/>
              <a:t>fulfilled</a:t>
            </a:r>
          </a:p>
          <a:p>
            <a:pPr lvl="1"/>
            <a:r>
              <a:rPr lang="en-US" dirty="0"/>
              <a:t>rejected</a:t>
            </a:r>
          </a:p>
          <a:p>
            <a:endParaRPr lang="en-US" dirty="0"/>
          </a:p>
          <a:p>
            <a:pPr marL="0" indent="0">
              <a:buNone/>
            </a:pPr>
            <a:r>
              <a:rPr lang="en-US" dirty="0"/>
              <a:t>Promises model work that hasn’t finished yet.</a:t>
            </a:r>
          </a:p>
        </p:txBody>
      </p:sp>
    </p:spTree>
    <p:extLst>
      <p:ext uri="{BB962C8B-B14F-4D97-AF65-F5344CB8AC3E}">
        <p14:creationId xmlns:p14="http://schemas.microsoft.com/office/powerpoint/2010/main" val="2446176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44B37-6330-3D14-994A-856BB88E2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0D9DD-B0CB-06AD-DA6C-A16CABA60ECC}"/>
              </a:ext>
            </a:extLst>
          </p:cNvPr>
          <p:cNvSpPr>
            <a:spLocks noGrp="1"/>
          </p:cNvSpPr>
          <p:nvPr>
            <p:ph type="title"/>
          </p:nvPr>
        </p:nvSpPr>
        <p:spPr>
          <a:xfrm>
            <a:off x="838200" y="2766218"/>
            <a:ext cx="10515600" cy="1325563"/>
          </a:xfrm>
        </p:spPr>
        <p:txBody>
          <a:bodyPr/>
          <a:lstStyle/>
          <a:p>
            <a:pPr algn="ctr"/>
            <a:r>
              <a:rPr lang="en-CA" dirty="0"/>
              <a:t>Promise Chaining</a:t>
            </a:r>
          </a:p>
        </p:txBody>
      </p:sp>
    </p:spTree>
    <p:extLst>
      <p:ext uri="{BB962C8B-B14F-4D97-AF65-F5344CB8AC3E}">
        <p14:creationId xmlns:p14="http://schemas.microsoft.com/office/powerpoint/2010/main" val="3341591696"/>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D9768-B8BB-1AEA-D538-D18DEA286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AD0AB4-581D-3B24-E768-6DC3BCB7C472}"/>
              </a:ext>
            </a:extLst>
          </p:cNvPr>
          <p:cNvSpPr>
            <a:spLocks noGrp="1"/>
          </p:cNvSpPr>
          <p:nvPr>
            <p:ph type="title"/>
          </p:nvPr>
        </p:nvSpPr>
        <p:spPr/>
        <p:txBody>
          <a:bodyPr/>
          <a:lstStyle/>
          <a:p>
            <a:r>
              <a:rPr lang="en-US" dirty="0"/>
              <a:t>Handling steps in order</a:t>
            </a:r>
          </a:p>
        </p:txBody>
      </p:sp>
      <p:sp>
        <p:nvSpPr>
          <p:cNvPr id="3" name="Content Placeholder 2">
            <a:extLst>
              <a:ext uri="{FF2B5EF4-FFF2-40B4-BE49-F238E27FC236}">
                <a16:creationId xmlns:a16="http://schemas.microsoft.com/office/drawing/2014/main" id="{C6BFE643-E95A-8E85-A833-3F24CA2C5DBC}"/>
              </a:ext>
            </a:extLst>
          </p:cNvPr>
          <p:cNvSpPr>
            <a:spLocks noGrp="1"/>
          </p:cNvSpPr>
          <p:nvPr>
            <p:ph idx="1"/>
          </p:nvPr>
        </p:nvSpPr>
        <p:spPr/>
        <p:txBody>
          <a:bodyPr>
            <a:normAutofit/>
          </a:bodyPr>
          <a:lstStyle/>
          <a:p>
            <a:pPr marL="0" indent="0">
              <a:buNone/>
            </a:pPr>
            <a:r>
              <a:rPr lang="en-US" dirty="0">
                <a:latin typeface="Consolas" panose="020B0609020204030204" pitchFamily="49" charset="0"/>
                <a:cs typeface="Consolas" panose="020B0609020204030204" pitchFamily="49" charset="0"/>
              </a:rPr>
              <a:t>fetch(</a:t>
            </a:r>
            <a:r>
              <a:rPr lang="en-US" dirty="0" err="1">
                <a:latin typeface="Consolas" panose="020B0609020204030204" pitchFamily="49" charset="0"/>
                <a:cs typeface="Consolas" panose="020B0609020204030204" pitchFamily="49" charset="0"/>
              </a:rPr>
              <a:t>url</a:t>
            </a:r>
            <a:r>
              <a:rPr lang="en-US" dirty="0">
                <a:latin typeface="Consolas" panose="020B0609020204030204" pitchFamily="49" charset="0"/>
                <a:cs typeface="Consolas" panose="020B0609020204030204" pitchFamily="49" charset="0"/>
              </a:rPr>
              <a:t>)</a:t>
            </a:r>
          </a:p>
          <a:p>
            <a:pPr marL="0" indent="0">
              <a:buNone/>
            </a:pPr>
            <a:r>
              <a:rPr lang="en-US" dirty="0">
                <a:latin typeface="Consolas" panose="020B0609020204030204" pitchFamily="49" charset="0"/>
                <a:cs typeface="Consolas" panose="020B0609020204030204" pitchFamily="49" charset="0"/>
              </a:rPr>
              <a:t>  .then(res =&gt; </a:t>
            </a:r>
            <a:r>
              <a:rPr lang="en-US" dirty="0" err="1">
                <a:latin typeface="Consolas" panose="020B0609020204030204" pitchFamily="49" charset="0"/>
                <a:cs typeface="Consolas" panose="020B0609020204030204" pitchFamily="49" charset="0"/>
              </a:rPr>
              <a:t>res.json</a:t>
            </a:r>
            <a:r>
              <a:rPr lang="en-US" dirty="0">
                <a:latin typeface="Consolas" panose="020B0609020204030204" pitchFamily="49" charset="0"/>
                <a:cs typeface="Consolas" panose="020B0609020204030204" pitchFamily="49" charset="0"/>
              </a:rPr>
              <a:t>())</a:t>
            </a:r>
          </a:p>
          <a:p>
            <a:pPr marL="0" indent="0">
              <a:buNone/>
            </a:pPr>
            <a:r>
              <a:rPr lang="en-US" dirty="0">
                <a:latin typeface="Consolas" panose="020B0609020204030204" pitchFamily="49" charset="0"/>
                <a:cs typeface="Consolas" panose="020B0609020204030204" pitchFamily="49" charset="0"/>
              </a:rPr>
              <a:t>  .then(data =&gt; </a:t>
            </a:r>
            <a:r>
              <a:rPr lang="en-US" dirty="0" err="1">
                <a:latin typeface="Consolas" panose="020B0609020204030204" pitchFamily="49" charset="0"/>
                <a:cs typeface="Consolas" panose="020B0609020204030204" pitchFamily="49" charset="0"/>
              </a:rPr>
              <a:t>console.log</a:t>
            </a:r>
            <a:r>
              <a:rPr lang="en-US" dirty="0">
                <a:latin typeface="Consolas" panose="020B0609020204030204" pitchFamily="49" charset="0"/>
                <a:cs typeface="Consolas" panose="020B0609020204030204" pitchFamily="49" charset="0"/>
              </a:rPr>
              <a:t>(data))</a:t>
            </a:r>
          </a:p>
          <a:p>
            <a:pPr marL="0" indent="0">
              <a:buNone/>
            </a:pPr>
            <a:r>
              <a:rPr lang="en-US" dirty="0">
                <a:latin typeface="Consolas" panose="020B0609020204030204" pitchFamily="49" charset="0"/>
                <a:cs typeface="Consolas" panose="020B0609020204030204" pitchFamily="49" charset="0"/>
              </a:rPr>
              <a:t>  .catch(err =&gt; </a:t>
            </a:r>
            <a:r>
              <a:rPr lang="en-US" dirty="0" err="1">
                <a:latin typeface="Consolas" panose="020B0609020204030204" pitchFamily="49" charset="0"/>
                <a:cs typeface="Consolas" panose="020B0609020204030204" pitchFamily="49" charset="0"/>
              </a:rPr>
              <a:t>console.error</a:t>
            </a:r>
            <a:r>
              <a:rPr lang="en-US" dirty="0">
                <a:latin typeface="Consolas" panose="020B0609020204030204" pitchFamily="49" charset="0"/>
                <a:cs typeface="Consolas" panose="020B0609020204030204" pitchFamily="49" charset="0"/>
              </a:rPr>
              <a:t>(err));</a:t>
            </a:r>
          </a:p>
          <a:p>
            <a:pPr marL="0" indent="0">
              <a:buNone/>
            </a:pPr>
            <a:endParaRPr lang="en-US" dirty="0"/>
          </a:p>
          <a:p>
            <a:r>
              <a:rPr lang="en-US" dirty="0"/>
              <a:t>Each </a:t>
            </a:r>
            <a:r>
              <a:rPr lang="en-US" dirty="0">
                <a:latin typeface="Consolas" panose="020B0609020204030204" pitchFamily="49" charset="0"/>
                <a:cs typeface="Consolas" panose="020B0609020204030204" pitchFamily="49" charset="0"/>
              </a:rPr>
              <a:t>.then()</a:t>
            </a:r>
            <a:r>
              <a:rPr lang="en-US" dirty="0"/>
              <a:t> waits for the previous step</a:t>
            </a:r>
          </a:p>
          <a:p>
            <a:r>
              <a:rPr lang="en-US" dirty="0"/>
              <a:t>Errors bubble to </a:t>
            </a:r>
            <a:r>
              <a:rPr lang="en-US" dirty="0">
                <a:latin typeface="Consolas" panose="020B0609020204030204" pitchFamily="49" charset="0"/>
                <a:cs typeface="Consolas" panose="020B0609020204030204" pitchFamily="49" charset="0"/>
              </a:rPr>
              <a:t>.catch()</a:t>
            </a:r>
          </a:p>
        </p:txBody>
      </p:sp>
    </p:spTree>
    <p:extLst>
      <p:ext uri="{BB962C8B-B14F-4D97-AF65-F5344CB8AC3E}">
        <p14:creationId xmlns:p14="http://schemas.microsoft.com/office/powerpoint/2010/main" val="3639527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21F8D-058A-8175-F2A7-5821479ADE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F7730-3BB5-F427-473C-7B2489915ABA}"/>
              </a:ext>
            </a:extLst>
          </p:cNvPr>
          <p:cNvSpPr>
            <a:spLocks noGrp="1"/>
          </p:cNvSpPr>
          <p:nvPr>
            <p:ph type="title"/>
          </p:nvPr>
        </p:nvSpPr>
        <p:spPr>
          <a:xfrm>
            <a:off x="838200" y="2766218"/>
            <a:ext cx="10515600" cy="1325563"/>
          </a:xfrm>
        </p:spPr>
        <p:txBody>
          <a:bodyPr/>
          <a:lstStyle/>
          <a:p>
            <a:pPr algn="ctr"/>
            <a:r>
              <a:rPr lang="en-CA" dirty="0"/>
              <a:t>async / await</a:t>
            </a:r>
          </a:p>
        </p:txBody>
      </p:sp>
    </p:spTree>
    <p:extLst>
      <p:ext uri="{BB962C8B-B14F-4D97-AF65-F5344CB8AC3E}">
        <p14:creationId xmlns:p14="http://schemas.microsoft.com/office/powerpoint/2010/main" val="746458785"/>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EC1F1-084A-F978-AD19-FC8928A6B0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E40565-C5D2-B494-7F34-B87C4F83CE61}"/>
              </a:ext>
            </a:extLst>
          </p:cNvPr>
          <p:cNvSpPr>
            <a:spLocks noGrp="1"/>
          </p:cNvSpPr>
          <p:nvPr>
            <p:ph type="title"/>
          </p:nvPr>
        </p:nvSpPr>
        <p:spPr/>
        <p:txBody>
          <a:bodyPr/>
          <a:lstStyle/>
          <a:p>
            <a:r>
              <a:rPr lang="en-US" dirty="0"/>
              <a:t>Promise syntax made readable</a:t>
            </a:r>
          </a:p>
        </p:txBody>
      </p:sp>
      <p:sp>
        <p:nvSpPr>
          <p:cNvPr id="3" name="Content Placeholder 2">
            <a:extLst>
              <a:ext uri="{FF2B5EF4-FFF2-40B4-BE49-F238E27FC236}">
                <a16:creationId xmlns:a16="http://schemas.microsoft.com/office/drawing/2014/main" id="{B5A43AC8-9404-3E45-2BB8-524319B1AC11}"/>
              </a:ext>
            </a:extLst>
          </p:cNvPr>
          <p:cNvSpPr>
            <a:spLocks noGrp="1"/>
          </p:cNvSpPr>
          <p:nvPr>
            <p:ph idx="1"/>
          </p:nvPr>
        </p:nvSpPr>
        <p:spPr>
          <a:xfrm>
            <a:off x="391886" y="1866447"/>
            <a:ext cx="10961914" cy="2795360"/>
          </a:xfrm>
        </p:spPr>
        <p:txBody>
          <a:bodyPr>
            <a:normAutofit fontScale="70000" lnSpcReduction="20000"/>
          </a:bodyPr>
          <a:lstStyle/>
          <a:p>
            <a:pPr marL="0" indent="0">
              <a:buNone/>
            </a:pPr>
            <a:r>
              <a:rPr lang="en-US" dirty="0">
                <a:latin typeface="Consolas" panose="020B0609020204030204" pitchFamily="49" charset="0"/>
                <a:cs typeface="Consolas" panose="020B0609020204030204" pitchFamily="49" charset="0"/>
              </a:rPr>
              <a:t>try {</a:t>
            </a:r>
          </a:p>
          <a:p>
            <a:pPr marL="0" indent="0">
              <a:buNone/>
            </a:pPr>
            <a:r>
              <a:rPr lang="en-US" dirty="0">
                <a:latin typeface="Consolas" panose="020B0609020204030204" pitchFamily="49" charset="0"/>
                <a:cs typeface="Consolas" panose="020B0609020204030204" pitchFamily="49" charset="0"/>
              </a:rPr>
              <a:t>  const res = await fetch(</a:t>
            </a:r>
            <a:r>
              <a:rPr lang="en-US" dirty="0" err="1">
                <a:latin typeface="Consolas" panose="020B0609020204030204" pitchFamily="49" charset="0"/>
                <a:cs typeface="Consolas" panose="020B0609020204030204" pitchFamily="49" charset="0"/>
              </a:rPr>
              <a:t>url</a:t>
            </a:r>
            <a:r>
              <a:rPr lang="en-US" dirty="0">
                <a:latin typeface="Consolas" panose="020B0609020204030204" pitchFamily="49" charset="0"/>
                <a:cs typeface="Consolas" panose="020B0609020204030204" pitchFamily="49" charset="0"/>
              </a:rPr>
              <a:t>);</a:t>
            </a:r>
          </a:p>
          <a:p>
            <a:pPr marL="0" indent="0">
              <a:buNone/>
            </a:pPr>
            <a:r>
              <a:rPr lang="en-US" dirty="0">
                <a:latin typeface="Consolas" panose="020B0609020204030204" pitchFamily="49" charset="0"/>
                <a:cs typeface="Consolas" panose="020B0609020204030204" pitchFamily="49" charset="0"/>
              </a:rPr>
              <a:t>  const data = await </a:t>
            </a:r>
            <a:r>
              <a:rPr lang="en-US" dirty="0" err="1">
                <a:latin typeface="Consolas" panose="020B0609020204030204" pitchFamily="49" charset="0"/>
                <a:cs typeface="Consolas" panose="020B0609020204030204" pitchFamily="49" charset="0"/>
              </a:rPr>
              <a:t>res.json</a:t>
            </a:r>
            <a:r>
              <a:rPr lang="en-US" dirty="0">
                <a:latin typeface="Consolas" panose="020B0609020204030204" pitchFamily="49" charset="0"/>
                <a:cs typeface="Consolas" panose="020B0609020204030204" pitchFamily="49" charset="0"/>
              </a:rPr>
              <a:t>();</a:t>
            </a:r>
          </a:p>
          <a:p>
            <a:pPr marL="0" indent="0">
              <a:buNone/>
            </a:pPr>
            <a:r>
              <a:rPr lang="en-US" dirty="0">
                <a:latin typeface="Consolas" panose="020B0609020204030204" pitchFamily="49" charset="0"/>
                <a:cs typeface="Consolas" panose="020B0609020204030204" pitchFamily="49" charset="0"/>
              </a:rPr>
              <a:t>} catch (err) {</a:t>
            </a:r>
          </a:p>
          <a:p>
            <a:pPr marL="0" indent="0">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console.error</a:t>
            </a:r>
            <a:r>
              <a:rPr lang="en-US" dirty="0">
                <a:latin typeface="Consolas" panose="020B0609020204030204" pitchFamily="49" charset="0"/>
                <a:cs typeface="Consolas" panose="020B0609020204030204" pitchFamily="49" charset="0"/>
              </a:rPr>
              <a:t>(err);</a:t>
            </a:r>
          </a:p>
          <a:p>
            <a:pPr marL="0" indent="0">
              <a:buNone/>
            </a:pPr>
            <a:r>
              <a:rPr lang="en-US" dirty="0">
                <a:latin typeface="Consolas" panose="020B0609020204030204" pitchFamily="49" charset="0"/>
                <a:cs typeface="Consolas" panose="020B0609020204030204" pitchFamily="49" charset="0"/>
              </a:rPr>
              <a:t>}</a:t>
            </a:r>
          </a:p>
          <a:p>
            <a:endParaRPr lang="en-US" dirty="0"/>
          </a:p>
          <a:p>
            <a:pPr marL="0" indent="0">
              <a:buNone/>
            </a:pPr>
            <a:r>
              <a:rPr lang="en-US" dirty="0">
                <a:latin typeface="Consolas" panose="020B0609020204030204" pitchFamily="49" charset="0"/>
                <a:cs typeface="Consolas" panose="020B0609020204030204" pitchFamily="49" charset="0"/>
              </a:rPr>
              <a:t>async/await</a:t>
            </a:r>
            <a:r>
              <a:rPr lang="en-US" dirty="0"/>
              <a:t> does not replace Promises, it uses them.</a:t>
            </a:r>
          </a:p>
        </p:txBody>
      </p:sp>
      <p:sp>
        <p:nvSpPr>
          <p:cNvPr id="5" name="TextBox 4">
            <a:extLst>
              <a:ext uri="{FF2B5EF4-FFF2-40B4-BE49-F238E27FC236}">
                <a16:creationId xmlns:a16="http://schemas.microsoft.com/office/drawing/2014/main" id="{E8A1E3F5-5146-A0EC-FDA2-CAEBF1E01937}"/>
              </a:ext>
            </a:extLst>
          </p:cNvPr>
          <p:cNvSpPr txBox="1"/>
          <p:nvPr/>
        </p:nvSpPr>
        <p:spPr>
          <a:xfrm>
            <a:off x="6260648" y="2012522"/>
            <a:ext cx="6094638" cy="1754326"/>
          </a:xfrm>
          <a:prstGeom prst="rect">
            <a:avLst/>
          </a:prstGeom>
          <a:noFill/>
        </p:spPr>
        <p:txBody>
          <a:bodyPr wrap="square">
            <a:spAutoFit/>
          </a:bodyPr>
          <a:lstStyle/>
          <a:p>
            <a:pPr>
              <a:buNone/>
            </a:pPr>
            <a:r>
              <a:rPr lang="en-US" dirty="0"/>
              <a:t>Here’s the mental model:</a:t>
            </a:r>
          </a:p>
          <a:p>
            <a:pPr>
              <a:buFont typeface="Arial" panose="020B0604020202020204" pitchFamily="34" charset="0"/>
              <a:buChar char="•"/>
            </a:pPr>
            <a:r>
              <a:rPr lang="en-US" dirty="0">
                <a:solidFill>
                  <a:srgbClr val="002060"/>
                </a:solidFill>
                <a:latin typeface="Courier New" panose="02070309020205020404" pitchFamily="49" charset="0"/>
              </a:rPr>
              <a:t>fetch(</a:t>
            </a:r>
            <a:r>
              <a:rPr lang="en-US" dirty="0" err="1">
                <a:solidFill>
                  <a:srgbClr val="002060"/>
                </a:solidFill>
                <a:latin typeface="Courier New" panose="02070309020205020404" pitchFamily="49" charset="0"/>
              </a:rPr>
              <a:t>url</a:t>
            </a:r>
            <a:r>
              <a:rPr lang="en-US" dirty="0">
                <a:solidFill>
                  <a:srgbClr val="002060"/>
                </a:solidFill>
                <a:latin typeface="Courier New" panose="02070309020205020404" pitchFamily="49" charset="0"/>
              </a:rPr>
              <a:t>)</a:t>
            </a:r>
            <a:r>
              <a:rPr lang="en-US" dirty="0">
                <a:solidFill>
                  <a:srgbClr val="002060"/>
                </a:solidFill>
              </a:rPr>
              <a:t> </a:t>
            </a:r>
            <a:r>
              <a:rPr lang="en-US" b="1" dirty="0">
                <a:solidFill>
                  <a:srgbClr val="002060"/>
                </a:solidFill>
              </a:rPr>
              <a:t>returns a Promise</a:t>
            </a:r>
            <a:endParaRPr lang="en-US" dirty="0">
              <a:solidFill>
                <a:srgbClr val="002060"/>
              </a:solidFill>
            </a:endParaRPr>
          </a:p>
          <a:p>
            <a:pPr>
              <a:buFont typeface="Arial" panose="020B0604020202020204" pitchFamily="34" charset="0"/>
              <a:buChar char="•"/>
            </a:pPr>
            <a:r>
              <a:rPr lang="en-US" dirty="0">
                <a:solidFill>
                  <a:srgbClr val="002060"/>
                </a:solidFill>
                <a:latin typeface="Courier New" panose="02070309020205020404" pitchFamily="49" charset="0"/>
              </a:rPr>
              <a:t>await</a:t>
            </a:r>
            <a:r>
              <a:rPr lang="en-US" dirty="0">
                <a:solidFill>
                  <a:srgbClr val="002060"/>
                </a:solidFill>
              </a:rPr>
              <a:t> pauses </a:t>
            </a:r>
            <a:r>
              <a:rPr lang="en-US" i="1" dirty="0">
                <a:solidFill>
                  <a:srgbClr val="002060"/>
                </a:solidFill>
              </a:rPr>
              <a:t>this function</a:t>
            </a:r>
            <a:r>
              <a:rPr lang="en-US" dirty="0">
                <a:solidFill>
                  <a:srgbClr val="002060"/>
                </a:solidFill>
              </a:rPr>
              <a:t> until that Promise settles</a:t>
            </a:r>
          </a:p>
          <a:p>
            <a:pPr>
              <a:buFont typeface="Arial" panose="020B0604020202020204" pitchFamily="34" charset="0"/>
              <a:buChar char="•"/>
            </a:pPr>
            <a:r>
              <a:rPr lang="en-US" dirty="0">
                <a:solidFill>
                  <a:srgbClr val="002060"/>
                </a:solidFill>
              </a:rPr>
              <a:t>If the Promise:</a:t>
            </a:r>
          </a:p>
          <a:p>
            <a:pPr marL="742950" lvl="1" indent="-285750">
              <a:buFont typeface="Arial" panose="020B0604020202020204" pitchFamily="34" charset="0"/>
              <a:buChar char="•"/>
            </a:pPr>
            <a:r>
              <a:rPr lang="en-US" b="1" dirty="0">
                <a:solidFill>
                  <a:srgbClr val="002060"/>
                </a:solidFill>
              </a:rPr>
              <a:t>fulfills</a:t>
            </a:r>
            <a:r>
              <a:rPr lang="en-US" dirty="0">
                <a:solidFill>
                  <a:srgbClr val="002060"/>
                </a:solidFill>
              </a:rPr>
              <a:t> → you get the resolved value</a:t>
            </a:r>
          </a:p>
          <a:p>
            <a:pPr marL="742950" lvl="1" indent="-285750">
              <a:buFont typeface="Arial" panose="020B0604020202020204" pitchFamily="34" charset="0"/>
              <a:buChar char="•"/>
            </a:pPr>
            <a:r>
              <a:rPr lang="en-US" b="1" dirty="0">
                <a:solidFill>
                  <a:srgbClr val="002060"/>
                </a:solidFill>
              </a:rPr>
              <a:t>rejects</a:t>
            </a:r>
            <a:r>
              <a:rPr lang="en-US" dirty="0">
                <a:solidFill>
                  <a:srgbClr val="002060"/>
                </a:solidFill>
              </a:rPr>
              <a:t> → it throws, and control jumps to </a:t>
            </a:r>
            <a:r>
              <a:rPr lang="en-US" dirty="0">
                <a:solidFill>
                  <a:srgbClr val="002060"/>
                </a:solidFill>
                <a:latin typeface="Courier New" panose="02070309020205020404" pitchFamily="49" charset="0"/>
              </a:rPr>
              <a:t>catch</a:t>
            </a:r>
            <a:endParaRPr lang="en-US" dirty="0">
              <a:solidFill>
                <a:srgbClr val="002060"/>
              </a:solidFill>
            </a:endParaRPr>
          </a:p>
        </p:txBody>
      </p:sp>
    </p:spTree>
    <p:extLst>
      <p:ext uri="{BB962C8B-B14F-4D97-AF65-F5344CB8AC3E}">
        <p14:creationId xmlns:p14="http://schemas.microsoft.com/office/powerpoint/2010/main" val="765638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C66E1-62FF-F5F7-C721-37F19364B5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ECAAF0-63CA-69B6-08BB-8D393BC9D71A}"/>
              </a:ext>
            </a:extLst>
          </p:cNvPr>
          <p:cNvSpPr>
            <a:spLocks noGrp="1"/>
          </p:cNvSpPr>
          <p:nvPr>
            <p:ph type="title"/>
          </p:nvPr>
        </p:nvSpPr>
        <p:spPr/>
        <p:txBody>
          <a:bodyPr/>
          <a:lstStyle/>
          <a:p>
            <a:r>
              <a:rPr lang="en-US" dirty="0"/>
              <a:t>Promise syntax made readable</a:t>
            </a:r>
          </a:p>
        </p:txBody>
      </p:sp>
      <p:sp>
        <p:nvSpPr>
          <p:cNvPr id="9" name="TextBox 8">
            <a:extLst>
              <a:ext uri="{FF2B5EF4-FFF2-40B4-BE49-F238E27FC236}">
                <a16:creationId xmlns:a16="http://schemas.microsoft.com/office/drawing/2014/main" id="{F8F32397-D9E5-E32B-F0C4-2C56B92C8B42}"/>
              </a:ext>
            </a:extLst>
          </p:cNvPr>
          <p:cNvSpPr txBox="1"/>
          <p:nvPr/>
        </p:nvSpPr>
        <p:spPr>
          <a:xfrm>
            <a:off x="955222" y="2122713"/>
            <a:ext cx="3755571" cy="2862322"/>
          </a:xfrm>
          <a:prstGeom prst="rect">
            <a:avLst/>
          </a:prstGeom>
          <a:noFill/>
        </p:spPr>
        <p:txBody>
          <a:bodyPr wrap="square">
            <a:spAutoFit/>
          </a:bodyPr>
          <a:lstStyle/>
          <a:p>
            <a:r>
              <a:rPr lang="en-CA" dirty="0"/>
              <a:t>fetch(</a:t>
            </a:r>
            <a:r>
              <a:rPr lang="en-CA" dirty="0" err="1"/>
              <a:t>url</a:t>
            </a:r>
            <a:r>
              <a:rPr lang="en-CA" dirty="0"/>
              <a:t>)</a:t>
            </a:r>
          </a:p>
          <a:p>
            <a:r>
              <a:rPr lang="en-CA" dirty="0"/>
              <a:t>  	.then(res =&gt; {</a:t>
            </a:r>
          </a:p>
          <a:p>
            <a:r>
              <a:rPr lang="en-CA" dirty="0"/>
              <a:t>    	return </a:t>
            </a:r>
            <a:r>
              <a:rPr lang="en-CA" dirty="0" err="1"/>
              <a:t>res.json</a:t>
            </a:r>
            <a:r>
              <a:rPr lang="en-CA" dirty="0"/>
              <a:t>();</a:t>
            </a:r>
          </a:p>
          <a:p>
            <a:r>
              <a:rPr lang="en-CA" dirty="0"/>
              <a:t> 	 })</a:t>
            </a:r>
          </a:p>
          <a:p>
            <a:r>
              <a:rPr lang="en-CA" dirty="0"/>
              <a:t> 	 .then(data =&gt; {</a:t>
            </a:r>
          </a:p>
          <a:p>
            <a:r>
              <a:rPr lang="en-CA" dirty="0"/>
              <a:t>  	  // use data here</a:t>
            </a:r>
          </a:p>
          <a:p>
            <a:r>
              <a:rPr lang="en-CA" dirty="0"/>
              <a:t> 	 })</a:t>
            </a:r>
          </a:p>
          <a:p>
            <a:r>
              <a:rPr lang="en-CA" dirty="0"/>
              <a:t>	  .catch(err =&gt; {</a:t>
            </a:r>
          </a:p>
          <a:p>
            <a:r>
              <a:rPr lang="en-CA" dirty="0"/>
              <a:t> 	   </a:t>
            </a:r>
            <a:r>
              <a:rPr lang="en-CA" dirty="0" err="1"/>
              <a:t>console.error</a:t>
            </a:r>
            <a:r>
              <a:rPr lang="en-CA" dirty="0"/>
              <a:t>(err);</a:t>
            </a:r>
          </a:p>
          <a:p>
            <a:r>
              <a:rPr lang="en-CA" dirty="0"/>
              <a:t>  });</a:t>
            </a:r>
          </a:p>
        </p:txBody>
      </p:sp>
      <p:sp>
        <p:nvSpPr>
          <p:cNvPr id="8" name="TextBox 7">
            <a:extLst>
              <a:ext uri="{FF2B5EF4-FFF2-40B4-BE49-F238E27FC236}">
                <a16:creationId xmlns:a16="http://schemas.microsoft.com/office/drawing/2014/main" id="{91F1BA89-9C2D-0C73-06EE-C5B7AC1EF1CE}"/>
              </a:ext>
            </a:extLst>
          </p:cNvPr>
          <p:cNvSpPr txBox="1"/>
          <p:nvPr/>
        </p:nvSpPr>
        <p:spPr>
          <a:xfrm>
            <a:off x="4890407" y="1461407"/>
            <a:ext cx="6857999" cy="3970318"/>
          </a:xfrm>
          <a:prstGeom prst="rect">
            <a:avLst/>
          </a:prstGeom>
          <a:noFill/>
        </p:spPr>
        <p:txBody>
          <a:bodyPr wrap="square">
            <a:spAutoFit/>
          </a:bodyPr>
          <a:lstStyle/>
          <a:p>
            <a:r>
              <a:rPr lang="en-US" sz="2800" dirty="0">
                <a:effectLst/>
                <a:latin typeface="Courier New" panose="02070309020205020404" pitchFamily="49" charset="0"/>
              </a:rPr>
              <a:t>async/await</a:t>
            </a:r>
            <a:r>
              <a:rPr lang="en-US" sz="2800" b="0" i="0" dirty="0">
                <a:effectLst/>
                <a:latin typeface="Google Sans"/>
              </a:rPr>
              <a:t> is a modern syntax feature in JavaScript that provides a cleaner, more readable way to work with promises, which are the underlying mechanism for managing asynchronous operations. It doesn't replace promises but provides "syntactic sugar" over them to overcome issues related to readability, complex chaining, and error handling. </a:t>
            </a:r>
            <a:endParaRPr lang="en-CA" sz="2800" dirty="0"/>
          </a:p>
        </p:txBody>
      </p:sp>
    </p:spTree>
    <p:extLst>
      <p:ext uri="{BB962C8B-B14F-4D97-AF65-F5344CB8AC3E}">
        <p14:creationId xmlns:p14="http://schemas.microsoft.com/office/powerpoint/2010/main" val="1816024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49BB5-66C3-BD9B-A70C-B3B0E3966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85B8E-CFB5-5DB8-9F62-98193E27C5F8}"/>
              </a:ext>
            </a:extLst>
          </p:cNvPr>
          <p:cNvSpPr>
            <a:spLocks noGrp="1"/>
          </p:cNvSpPr>
          <p:nvPr>
            <p:ph type="title"/>
          </p:nvPr>
        </p:nvSpPr>
        <p:spPr>
          <a:xfrm>
            <a:off x="838200" y="2766218"/>
            <a:ext cx="10515600" cy="1325563"/>
          </a:xfrm>
        </p:spPr>
        <p:txBody>
          <a:bodyPr/>
          <a:lstStyle/>
          <a:p>
            <a:pPr algn="ctr"/>
            <a:r>
              <a:rPr lang="en-CA" dirty="0" err="1"/>
              <a:t>Promise.all</a:t>
            </a:r>
            <a:r>
              <a:rPr lang="en-CA" dirty="0"/>
              <a:t>()</a:t>
            </a:r>
          </a:p>
        </p:txBody>
      </p:sp>
    </p:spTree>
    <p:extLst>
      <p:ext uri="{BB962C8B-B14F-4D97-AF65-F5344CB8AC3E}">
        <p14:creationId xmlns:p14="http://schemas.microsoft.com/office/powerpoint/2010/main" val="3204336034"/>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2B89F-1AB9-8574-CCFA-ADBF88B73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523954-8CB9-D9D6-3E5A-0D9235836355}"/>
              </a:ext>
            </a:extLst>
          </p:cNvPr>
          <p:cNvSpPr>
            <a:spLocks noGrp="1"/>
          </p:cNvSpPr>
          <p:nvPr>
            <p:ph type="title"/>
          </p:nvPr>
        </p:nvSpPr>
        <p:spPr/>
        <p:txBody>
          <a:bodyPr/>
          <a:lstStyle/>
          <a:p>
            <a:r>
              <a:rPr lang="en-US" dirty="0"/>
              <a:t>Coordinating multiple async tasks</a:t>
            </a:r>
          </a:p>
        </p:txBody>
      </p:sp>
      <p:sp>
        <p:nvSpPr>
          <p:cNvPr id="3" name="Content Placeholder 2">
            <a:extLst>
              <a:ext uri="{FF2B5EF4-FFF2-40B4-BE49-F238E27FC236}">
                <a16:creationId xmlns:a16="http://schemas.microsoft.com/office/drawing/2014/main" id="{36C95859-94EF-C7E0-B65A-C84A04C869D6}"/>
              </a:ext>
            </a:extLst>
          </p:cNvPr>
          <p:cNvSpPr>
            <a:spLocks noGrp="1"/>
          </p:cNvSpPr>
          <p:nvPr>
            <p:ph idx="1"/>
          </p:nvPr>
        </p:nvSpPr>
        <p:spPr/>
        <p:txBody>
          <a:bodyPr>
            <a:normAutofit fontScale="92500" lnSpcReduction="10000"/>
          </a:bodyPr>
          <a:lstStyle/>
          <a:p>
            <a:pPr marL="0" indent="0">
              <a:buNone/>
            </a:pPr>
            <a:r>
              <a:rPr lang="en-US" dirty="0">
                <a:latin typeface="Consolas" panose="020B0609020204030204" pitchFamily="49" charset="0"/>
                <a:cs typeface="Consolas" panose="020B0609020204030204" pitchFamily="49" charset="0"/>
              </a:rPr>
              <a:t>const [a, b] = await </a:t>
            </a:r>
            <a:r>
              <a:rPr lang="en-US" dirty="0" err="1">
                <a:latin typeface="Consolas" panose="020B0609020204030204" pitchFamily="49" charset="0"/>
                <a:cs typeface="Consolas" panose="020B0609020204030204" pitchFamily="49" charset="0"/>
              </a:rPr>
              <a:t>Promise.all</a:t>
            </a:r>
            <a:r>
              <a:rPr lang="en-US" dirty="0">
                <a:latin typeface="Consolas" panose="020B0609020204030204" pitchFamily="49" charset="0"/>
                <a:cs typeface="Consolas" panose="020B0609020204030204" pitchFamily="49" charset="0"/>
              </a:rPr>
              <a:t>([</a:t>
            </a:r>
          </a:p>
          <a:p>
            <a:pPr marL="0" indent="0">
              <a:buNone/>
            </a:pPr>
            <a:r>
              <a:rPr lang="en-US" dirty="0">
                <a:latin typeface="Consolas" panose="020B0609020204030204" pitchFamily="49" charset="0"/>
                <a:cs typeface="Consolas" panose="020B0609020204030204" pitchFamily="49" charset="0"/>
              </a:rPr>
              <a:t>  fetch(</a:t>
            </a:r>
            <a:r>
              <a:rPr lang="en-US" dirty="0" err="1">
                <a:latin typeface="Consolas" panose="020B0609020204030204" pitchFamily="49" charset="0"/>
                <a:cs typeface="Consolas" panose="020B0609020204030204" pitchFamily="49" charset="0"/>
              </a:rPr>
              <a:t>urlA</a:t>
            </a:r>
            <a:r>
              <a:rPr lang="en-US" dirty="0">
                <a:latin typeface="Consolas" panose="020B0609020204030204" pitchFamily="49" charset="0"/>
                <a:cs typeface="Consolas" panose="020B0609020204030204" pitchFamily="49" charset="0"/>
              </a:rPr>
              <a:t>),</a:t>
            </a:r>
          </a:p>
          <a:p>
            <a:pPr marL="0" indent="0">
              <a:buNone/>
            </a:pPr>
            <a:r>
              <a:rPr lang="en-US" dirty="0">
                <a:latin typeface="Consolas" panose="020B0609020204030204" pitchFamily="49" charset="0"/>
                <a:cs typeface="Consolas" panose="020B0609020204030204" pitchFamily="49" charset="0"/>
              </a:rPr>
              <a:t>  fetch(</a:t>
            </a:r>
            <a:r>
              <a:rPr lang="en-US" dirty="0" err="1">
                <a:latin typeface="Consolas" panose="020B0609020204030204" pitchFamily="49" charset="0"/>
                <a:cs typeface="Consolas" panose="020B0609020204030204" pitchFamily="49" charset="0"/>
              </a:rPr>
              <a:t>urlB</a:t>
            </a:r>
            <a:r>
              <a:rPr lang="en-US" dirty="0">
                <a:latin typeface="Consolas" panose="020B0609020204030204" pitchFamily="49" charset="0"/>
                <a:cs typeface="Consolas" panose="020B0609020204030204" pitchFamily="49" charset="0"/>
              </a:rPr>
              <a:t>),</a:t>
            </a:r>
          </a:p>
          <a:p>
            <a:pPr marL="0" indent="0">
              <a:buNone/>
            </a:pPr>
            <a:r>
              <a:rPr lang="en-US" dirty="0">
                <a:latin typeface="Consolas" panose="020B0609020204030204" pitchFamily="49" charset="0"/>
                <a:cs typeface="Consolas" panose="020B0609020204030204" pitchFamily="49" charset="0"/>
              </a:rPr>
              <a:t>]);</a:t>
            </a:r>
          </a:p>
          <a:p>
            <a:pPr marL="0" indent="0">
              <a:buNone/>
            </a:pPr>
            <a:endParaRPr lang="en-US" dirty="0"/>
          </a:p>
          <a:p>
            <a:r>
              <a:rPr lang="en-US" dirty="0"/>
              <a:t>Runs async operations in parallel</a:t>
            </a:r>
          </a:p>
          <a:p>
            <a:r>
              <a:rPr lang="en-US" dirty="0"/>
              <a:t>Resolves when </a:t>
            </a:r>
            <a:r>
              <a:rPr lang="en-US" b="1" dirty="0"/>
              <a:t>all</a:t>
            </a:r>
            <a:r>
              <a:rPr lang="en-US" dirty="0"/>
              <a:t> complete</a:t>
            </a:r>
          </a:p>
          <a:p>
            <a:r>
              <a:rPr lang="en-US" dirty="0"/>
              <a:t>Rejects if </a:t>
            </a:r>
            <a:r>
              <a:rPr lang="en-US" b="1" dirty="0"/>
              <a:t>any</a:t>
            </a:r>
            <a:r>
              <a:rPr lang="en-US" dirty="0"/>
              <a:t> fail</a:t>
            </a:r>
          </a:p>
        </p:txBody>
      </p:sp>
    </p:spTree>
    <p:extLst>
      <p:ext uri="{BB962C8B-B14F-4D97-AF65-F5344CB8AC3E}">
        <p14:creationId xmlns:p14="http://schemas.microsoft.com/office/powerpoint/2010/main" val="1830162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921E6-990F-3418-1CCF-0F1C7C0C63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F335C-98F7-A233-B3F9-B129C39A633D}"/>
              </a:ext>
            </a:extLst>
          </p:cNvPr>
          <p:cNvSpPr>
            <a:spLocks noGrp="1"/>
          </p:cNvSpPr>
          <p:nvPr>
            <p:ph type="title"/>
          </p:nvPr>
        </p:nvSpPr>
        <p:spPr>
          <a:xfrm>
            <a:off x="838200" y="2766218"/>
            <a:ext cx="10515600" cy="1325563"/>
          </a:xfrm>
        </p:spPr>
        <p:txBody>
          <a:bodyPr/>
          <a:lstStyle/>
          <a:p>
            <a:pPr algn="ctr"/>
            <a:r>
              <a:rPr lang="en-CA" b="1" dirty="0"/>
              <a:t>Stage 1: Fetch COORDINATION</a:t>
            </a:r>
            <a:endParaRPr lang="en-CA" dirty="0"/>
          </a:p>
        </p:txBody>
      </p:sp>
    </p:spTree>
    <p:extLst>
      <p:ext uri="{BB962C8B-B14F-4D97-AF65-F5344CB8AC3E}">
        <p14:creationId xmlns:p14="http://schemas.microsoft.com/office/powerpoint/2010/main" val="2371156263"/>
      </p:ext>
    </p:extLst>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899A8-F5D7-3FC8-C4E3-1C1B403ED37A}"/>
              </a:ext>
            </a:extLst>
          </p:cNvPr>
          <p:cNvSpPr>
            <a:spLocks noGrp="1"/>
          </p:cNvSpPr>
          <p:nvPr>
            <p:ph type="title"/>
          </p:nvPr>
        </p:nvSpPr>
        <p:spPr/>
        <p:txBody>
          <a:bodyPr/>
          <a:lstStyle/>
          <a:p>
            <a:r>
              <a:rPr lang="en-US" dirty="0"/>
              <a:t>Starting simple</a:t>
            </a:r>
          </a:p>
        </p:txBody>
      </p:sp>
      <p:sp>
        <p:nvSpPr>
          <p:cNvPr id="3" name="Content Placeholder 2">
            <a:extLst>
              <a:ext uri="{FF2B5EF4-FFF2-40B4-BE49-F238E27FC236}">
                <a16:creationId xmlns:a16="http://schemas.microsoft.com/office/drawing/2014/main" id="{EDD7D136-F0B8-16E7-3E2E-AA9D4908A883}"/>
              </a:ext>
            </a:extLst>
          </p:cNvPr>
          <p:cNvSpPr>
            <a:spLocks noGrp="1"/>
          </p:cNvSpPr>
          <p:nvPr>
            <p:ph idx="1"/>
          </p:nvPr>
        </p:nvSpPr>
        <p:spPr/>
        <p:txBody>
          <a:bodyPr/>
          <a:lstStyle/>
          <a:p>
            <a:pPr marL="514350" indent="-514350">
              <a:buFont typeface="+mj-lt"/>
              <a:buAutoNum type="arabicPeriod"/>
            </a:pPr>
            <a:r>
              <a:rPr lang="en-CA" dirty="0"/>
              <a:t>Application loads</a:t>
            </a:r>
          </a:p>
          <a:p>
            <a:pPr marL="514350" indent="-514350">
              <a:buFont typeface="+mj-lt"/>
              <a:buAutoNum type="arabicPeriod"/>
            </a:pPr>
            <a:r>
              <a:rPr lang="en-CA" dirty="0"/>
              <a:t>The app container/shell fetches resources</a:t>
            </a:r>
          </a:p>
          <a:p>
            <a:pPr marL="514350" indent="-514350">
              <a:buFont typeface="+mj-lt"/>
              <a:buAutoNum type="arabicPeriod"/>
            </a:pPr>
            <a:r>
              <a:rPr lang="en-CA" dirty="0"/>
              <a:t>Data is passed into components</a:t>
            </a:r>
          </a:p>
          <a:p>
            <a:pPr marL="514350" indent="-514350">
              <a:buFont typeface="+mj-lt"/>
              <a:buAutoNum type="arabicPeriod"/>
            </a:pPr>
            <a:endParaRPr lang="en-CA" dirty="0"/>
          </a:p>
          <a:p>
            <a:pPr marL="514350" indent="-514350">
              <a:buFont typeface="+mj-lt"/>
              <a:buAutoNum type="arabicPeriod"/>
            </a:pPr>
            <a:r>
              <a:rPr lang="en-CA" dirty="0"/>
              <a:t>Everything is explicit and easy to trace.</a:t>
            </a:r>
            <a:endParaRPr lang="en-US" dirty="0"/>
          </a:p>
        </p:txBody>
      </p:sp>
    </p:spTree>
    <p:extLst>
      <p:ext uri="{BB962C8B-B14F-4D97-AF65-F5344CB8AC3E}">
        <p14:creationId xmlns:p14="http://schemas.microsoft.com/office/powerpoint/2010/main" val="3800437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63FF2-718A-9065-98FF-79B579E052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3DA39A-7D80-55AD-196A-84FB7A06FE72}"/>
              </a:ext>
            </a:extLst>
          </p:cNvPr>
          <p:cNvSpPr>
            <a:spLocks noGrp="1"/>
          </p:cNvSpPr>
          <p:nvPr>
            <p:ph type="title"/>
          </p:nvPr>
        </p:nvSpPr>
        <p:spPr>
          <a:xfrm>
            <a:off x="838200" y="2766218"/>
            <a:ext cx="10515600" cy="1325563"/>
          </a:xfrm>
        </p:spPr>
        <p:txBody>
          <a:bodyPr/>
          <a:lstStyle/>
          <a:p>
            <a:pPr algn="ctr"/>
            <a:r>
              <a:rPr lang="en-CA" b="1" dirty="0"/>
              <a:t>Fetching Data</a:t>
            </a:r>
            <a:endParaRPr lang="en-CA" dirty="0"/>
          </a:p>
        </p:txBody>
      </p:sp>
    </p:spTree>
    <p:extLst>
      <p:ext uri="{BB962C8B-B14F-4D97-AF65-F5344CB8AC3E}">
        <p14:creationId xmlns:p14="http://schemas.microsoft.com/office/powerpoint/2010/main" val="1397644104"/>
      </p:ext>
    </p:extLst>
  </p:cSld>
  <p:clrMapOvr>
    <a:masterClrMapping/>
  </p:clrMapOvr>
  <p:transition spd="med">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322B3-1CE3-1E1B-90DB-A3F8D34D397E}"/>
              </a:ext>
            </a:extLst>
          </p:cNvPr>
          <p:cNvSpPr>
            <a:spLocks noGrp="1"/>
          </p:cNvSpPr>
          <p:nvPr>
            <p:ph type="title"/>
          </p:nvPr>
        </p:nvSpPr>
        <p:spPr/>
        <p:txBody>
          <a:bodyPr/>
          <a:lstStyle/>
          <a:p>
            <a:r>
              <a:rPr lang="en-US" dirty="0"/>
              <a:t>Using fetch with async/await</a:t>
            </a:r>
          </a:p>
        </p:txBody>
      </p:sp>
      <p:sp>
        <p:nvSpPr>
          <p:cNvPr id="3" name="Content Placeholder 2">
            <a:extLst>
              <a:ext uri="{FF2B5EF4-FFF2-40B4-BE49-F238E27FC236}">
                <a16:creationId xmlns:a16="http://schemas.microsoft.com/office/drawing/2014/main" id="{0C73557C-A9AB-DCBE-122B-7D3F4D1463EA}"/>
              </a:ext>
            </a:extLst>
          </p:cNvPr>
          <p:cNvSpPr>
            <a:spLocks noGrp="1"/>
          </p:cNvSpPr>
          <p:nvPr>
            <p:ph idx="1"/>
          </p:nvPr>
        </p:nvSpPr>
        <p:spPr/>
        <p:txBody>
          <a:bodyPr>
            <a:normAutofit/>
          </a:bodyPr>
          <a:lstStyle/>
          <a:p>
            <a:pPr marL="0" indent="0">
              <a:buNone/>
            </a:pPr>
            <a:r>
              <a:rPr lang="en-CA" dirty="0">
                <a:latin typeface="Consolas" panose="020B0609020204030204" pitchFamily="49" charset="0"/>
                <a:cs typeface="Consolas" panose="020B0609020204030204" pitchFamily="49" charset="0"/>
              </a:rPr>
              <a:t>const response = await fetch(</a:t>
            </a:r>
            <a:r>
              <a:rPr lang="en-CA" dirty="0" err="1">
                <a:latin typeface="Consolas" panose="020B0609020204030204" pitchFamily="49" charset="0"/>
                <a:cs typeface="Consolas" panose="020B0609020204030204" pitchFamily="49" charset="0"/>
              </a:rPr>
              <a:t>url</a:t>
            </a:r>
            <a:r>
              <a:rPr lang="en-CA" dirty="0">
                <a:latin typeface="Consolas" panose="020B0609020204030204" pitchFamily="49" charset="0"/>
                <a:cs typeface="Consolas" panose="020B0609020204030204" pitchFamily="49" charset="0"/>
              </a:rPr>
              <a:t>);</a:t>
            </a:r>
          </a:p>
          <a:p>
            <a:pPr marL="0" indent="0">
              <a:buNone/>
            </a:pPr>
            <a:r>
              <a:rPr lang="en-CA" dirty="0">
                <a:latin typeface="Consolas" panose="020B0609020204030204" pitchFamily="49" charset="0"/>
                <a:cs typeface="Consolas" panose="020B0609020204030204" pitchFamily="49" charset="0"/>
              </a:rPr>
              <a:t>const data = await </a:t>
            </a:r>
            <a:r>
              <a:rPr lang="en-CA" dirty="0" err="1">
                <a:latin typeface="Consolas" panose="020B0609020204030204" pitchFamily="49" charset="0"/>
                <a:cs typeface="Consolas" panose="020B0609020204030204" pitchFamily="49" charset="0"/>
              </a:rPr>
              <a:t>response.json</a:t>
            </a:r>
            <a:r>
              <a:rPr lang="en-CA" dirty="0">
                <a:latin typeface="Consolas" panose="020B0609020204030204" pitchFamily="49" charset="0"/>
                <a:cs typeface="Consolas" panose="020B0609020204030204" pitchFamily="49" charset="0"/>
              </a:rPr>
              <a:t>();</a:t>
            </a:r>
          </a:p>
          <a:p>
            <a:pPr marL="0" indent="0">
              <a:buNone/>
            </a:pPr>
            <a:endParaRPr lang="en-CA" dirty="0"/>
          </a:p>
          <a:p>
            <a:r>
              <a:rPr lang="en-CA" dirty="0"/>
              <a:t>Await pauses this function</a:t>
            </a:r>
          </a:p>
          <a:p>
            <a:r>
              <a:rPr lang="en-CA" dirty="0"/>
              <a:t>The app keeps running</a:t>
            </a:r>
          </a:p>
          <a:p>
            <a:r>
              <a:rPr lang="en-CA" dirty="0"/>
              <a:t>Data arrives later</a:t>
            </a:r>
          </a:p>
        </p:txBody>
      </p:sp>
    </p:spTree>
    <p:extLst>
      <p:ext uri="{BB962C8B-B14F-4D97-AF65-F5344CB8AC3E}">
        <p14:creationId xmlns:p14="http://schemas.microsoft.com/office/powerpoint/2010/main" val="6158803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969E2-2604-57B7-BA36-ABE43CCA9F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DBCA8E-683C-3712-D44B-33515BC6ED88}"/>
              </a:ext>
            </a:extLst>
          </p:cNvPr>
          <p:cNvSpPr>
            <a:spLocks noGrp="1"/>
          </p:cNvSpPr>
          <p:nvPr>
            <p:ph type="title"/>
          </p:nvPr>
        </p:nvSpPr>
        <p:spPr>
          <a:xfrm>
            <a:off x="838200" y="2766218"/>
            <a:ext cx="10515600" cy="1325563"/>
          </a:xfrm>
        </p:spPr>
        <p:txBody>
          <a:bodyPr/>
          <a:lstStyle/>
          <a:p>
            <a:pPr algn="ctr"/>
            <a:r>
              <a:rPr lang="en-CA" b="1" dirty="0"/>
              <a:t>Coordinating Data</a:t>
            </a:r>
            <a:endParaRPr lang="en-CA" dirty="0"/>
          </a:p>
        </p:txBody>
      </p:sp>
    </p:spTree>
    <p:extLst>
      <p:ext uri="{BB962C8B-B14F-4D97-AF65-F5344CB8AC3E}">
        <p14:creationId xmlns:p14="http://schemas.microsoft.com/office/powerpoint/2010/main" val="2568515927"/>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F1CE5-C4AC-4AAD-1BE2-61F7590DDC6B}"/>
              </a:ext>
            </a:extLst>
          </p:cNvPr>
          <p:cNvSpPr>
            <a:spLocks noGrp="1"/>
          </p:cNvSpPr>
          <p:nvPr>
            <p:ph type="title"/>
          </p:nvPr>
        </p:nvSpPr>
        <p:spPr/>
        <p:txBody>
          <a:bodyPr/>
          <a:lstStyle/>
          <a:p>
            <a:r>
              <a:rPr lang="en-US" dirty="0"/>
              <a:t>App shell as coordinator</a:t>
            </a:r>
          </a:p>
        </p:txBody>
      </p:sp>
      <p:sp>
        <p:nvSpPr>
          <p:cNvPr id="3" name="Content Placeholder 2">
            <a:extLst>
              <a:ext uri="{FF2B5EF4-FFF2-40B4-BE49-F238E27FC236}">
                <a16:creationId xmlns:a16="http://schemas.microsoft.com/office/drawing/2014/main" id="{659E5B33-C6D8-B4FA-51B9-2D89C29F4E49}"/>
              </a:ext>
            </a:extLst>
          </p:cNvPr>
          <p:cNvSpPr>
            <a:spLocks noGrp="1"/>
          </p:cNvSpPr>
          <p:nvPr>
            <p:ph idx="1"/>
          </p:nvPr>
        </p:nvSpPr>
        <p:spPr/>
        <p:txBody>
          <a:bodyPr>
            <a:normAutofit/>
          </a:bodyPr>
          <a:lstStyle/>
          <a:p>
            <a:r>
              <a:rPr lang="en-US" dirty="0"/>
              <a:t>Owns the fetch</a:t>
            </a:r>
          </a:p>
          <a:p>
            <a:r>
              <a:rPr lang="en-US" dirty="0"/>
              <a:t>Handles success and failure</a:t>
            </a:r>
          </a:p>
          <a:p>
            <a:r>
              <a:rPr lang="en-US" dirty="0"/>
              <a:t>Pushes data into components</a:t>
            </a:r>
          </a:p>
          <a:p>
            <a:pPr marL="0" indent="0">
              <a:buNone/>
            </a:pPr>
            <a:endParaRPr lang="en-US" dirty="0"/>
          </a:p>
          <a:p>
            <a:pPr marL="0" indent="0">
              <a:buNone/>
            </a:pPr>
            <a:r>
              <a:rPr lang="en-US" dirty="0"/>
              <a:t>Components stay focused on rendering.</a:t>
            </a:r>
          </a:p>
        </p:txBody>
      </p:sp>
    </p:spTree>
    <p:extLst>
      <p:ext uri="{BB962C8B-B14F-4D97-AF65-F5344CB8AC3E}">
        <p14:creationId xmlns:p14="http://schemas.microsoft.com/office/powerpoint/2010/main" val="1122787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E3A23-E8EF-8998-4BCB-7D3D2FD453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29089A-B2A5-EF23-AFB8-AE7917F530B9}"/>
              </a:ext>
            </a:extLst>
          </p:cNvPr>
          <p:cNvSpPr>
            <a:spLocks noGrp="1"/>
          </p:cNvSpPr>
          <p:nvPr>
            <p:ph type="title"/>
          </p:nvPr>
        </p:nvSpPr>
        <p:spPr>
          <a:xfrm>
            <a:off x="838200" y="2766218"/>
            <a:ext cx="10515600" cy="1325563"/>
          </a:xfrm>
        </p:spPr>
        <p:txBody>
          <a:bodyPr/>
          <a:lstStyle/>
          <a:p>
            <a:pPr algn="ctr"/>
            <a:r>
              <a:rPr lang="en-CA" dirty="0"/>
              <a:t>Async States</a:t>
            </a:r>
          </a:p>
        </p:txBody>
      </p:sp>
    </p:spTree>
    <p:extLst>
      <p:ext uri="{BB962C8B-B14F-4D97-AF65-F5344CB8AC3E}">
        <p14:creationId xmlns:p14="http://schemas.microsoft.com/office/powerpoint/2010/main" val="1986178434"/>
      </p:ext>
    </p:extLst>
  </p:cSld>
  <p:clrMapOvr>
    <a:masterClrMapping/>
  </p:clrMapOvr>
  <p:transition spd="med">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9E877-0EA3-695E-C85E-0732EE5FFD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7AC32-BC89-CE84-1701-B2335D5D710C}"/>
              </a:ext>
            </a:extLst>
          </p:cNvPr>
          <p:cNvSpPr>
            <a:spLocks noGrp="1"/>
          </p:cNvSpPr>
          <p:nvPr>
            <p:ph type="title"/>
          </p:nvPr>
        </p:nvSpPr>
        <p:spPr/>
        <p:txBody>
          <a:bodyPr/>
          <a:lstStyle/>
          <a:p>
            <a:r>
              <a:rPr lang="en-US" dirty="0"/>
              <a:t>What we're not solving yet</a:t>
            </a:r>
          </a:p>
        </p:txBody>
      </p:sp>
      <p:sp>
        <p:nvSpPr>
          <p:cNvPr id="3" name="Content Placeholder 2">
            <a:extLst>
              <a:ext uri="{FF2B5EF4-FFF2-40B4-BE49-F238E27FC236}">
                <a16:creationId xmlns:a16="http://schemas.microsoft.com/office/drawing/2014/main" id="{88C2BF19-AB39-BE49-8C7C-3A29B186222A}"/>
              </a:ext>
            </a:extLst>
          </p:cNvPr>
          <p:cNvSpPr>
            <a:spLocks noGrp="1"/>
          </p:cNvSpPr>
          <p:nvPr>
            <p:ph idx="1"/>
          </p:nvPr>
        </p:nvSpPr>
        <p:spPr/>
        <p:txBody>
          <a:bodyPr>
            <a:normAutofit/>
          </a:bodyPr>
          <a:lstStyle/>
          <a:p>
            <a:r>
              <a:rPr lang="en-US" dirty="0"/>
              <a:t>Loading indicators</a:t>
            </a:r>
          </a:p>
          <a:p>
            <a:r>
              <a:rPr lang="en-US" dirty="0"/>
              <a:t>Error messages</a:t>
            </a:r>
          </a:p>
          <a:p>
            <a:r>
              <a:rPr lang="en-US" dirty="0"/>
              <a:t>Retry logic</a:t>
            </a:r>
          </a:p>
          <a:p>
            <a:endParaRPr lang="en-US" dirty="0"/>
          </a:p>
          <a:p>
            <a:pPr marL="0" indent="0">
              <a:buNone/>
            </a:pPr>
            <a:r>
              <a:rPr lang="en-US" dirty="0"/>
              <a:t>We note these now and add them later.</a:t>
            </a:r>
          </a:p>
        </p:txBody>
      </p:sp>
    </p:spTree>
    <p:extLst>
      <p:ext uri="{BB962C8B-B14F-4D97-AF65-F5344CB8AC3E}">
        <p14:creationId xmlns:p14="http://schemas.microsoft.com/office/powerpoint/2010/main" val="1466043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FB298-8217-C169-8161-DF413241C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0E9014-C30C-F16A-8EF8-01B4CC4F2866}"/>
              </a:ext>
            </a:extLst>
          </p:cNvPr>
          <p:cNvSpPr>
            <a:spLocks noGrp="1"/>
          </p:cNvSpPr>
          <p:nvPr>
            <p:ph type="title"/>
          </p:nvPr>
        </p:nvSpPr>
        <p:spPr>
          <a:xfrm>
            <a:off x="838200" y="2766218"/>
            <a:ext cx="10515600" cy="1325563"/>
          </a:xfrm>
        </p:spPr>
        <p:txBody>
          <a:bodyPr/>
          <a:lstStyle/>
          <a:p>
            <a:pPr algn="ctr"/>
            <a:r>
              <a:rPr lang="en-CA" dirty="0"/>
              <a:t>Stage 2: Component Fetching</a:t>
            </a:r>
          </a:p>
        </p:txBody>
      </p:sp>
    </p:spTree>
    <p:extLst>
      <p:ext uri="{BB962C8B-B14F-4D97-AF65-F5344CB8AC3E}">
        <p14:creationId xmlns:p14="http://schemas.microsoft.com/office/powerpoint/2010/main" val="3583935102"/>
      </p:ext>
    </p:extLst>
  </p:cSld>
  <p:clrMapOvr>
    <a:masterClrMapping/>
  </p:clrMapOvr>
  <p:transition spd="med">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920B6-0F1F-328B-252A-75A46C4CA5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51C8C-D6C9-F221-FD85-10999210892C}"/>
              </a:ext>
            </a:extLst>
          </p:cNvPr>
          <p:cNvSpPr>
            <a:spLocks noGrp="1"/>
          </p:cNvSpPr>
          <p:nvPr>
            <p:ph type="title"/>
          </p:nvPr>
        </p:nvSpPr>
        <p:spPr/>
        <p:txBody>
          <a:bodyPr/>
          <a:lstStyle/>
          <a:p>
            <a:r>
              <a:rPr lang="en-US" dirty="0"/>
              <a:t>Making components reusable</a:t>
            </a:r>
          </a:p>
        </p:txBody>
      </p:sp>
      <p:sp>
        <p:nvSpPr>
          <p:cNvPr id="3" name="Content Placeholder 2">
            <a:extLst>
              <a:ext uri="{FF2B5EF4-FFF2-40B4-BE49-F238E27FC236}">
                <a16:creationId xmlns:a16="http://schemas.microsoft.com/office/drawing/2014/main" id="{73BFC555-A632-BF7A-8E14-013948112165}"/>
              </a:ext>
            </a:extLst>
          </p:cNvPr>
          <p:cNvSpPr>
            <a:spLocks noGrp="1"/>
          </p:cNvSpPr>
          <p:nvPr>
            <p:ph idx="1"/>
          </p:nvPr>
        </p:nvSpPr>
        <p:spPr/>
        <p:txBody>
          <a:bodyPr>
            <a:normAutofit/>
          </a:bodyPr>
          <a:lstStyle/>
          <a:p>
            <a:pPr marL="0" indent="0">
              <a:buNone/>
            </a:pPr>
            <a:r>
              <a:rPr lang="en-US" dirty="0"/>
              <a:t>Instead of fetching in the app shell (e.g., </a:t>
            </a:r>
            <a:r>
              <a:rPr lang="en-US" dirty="0" err="1"/>
              <a:t>index.js</a:t>
            </a:r>
            <a:r>
              <a:rPr lang="en-US" dirty="0"/>
              <a:t> or </a:t>
            </a:r>
            <a:r>
              <a:rPr lang="en-US" dirty="0" err="1"/>
              <a:t>main.js</a:t>
            </a:r>
            <a:r>
              <a:rPr lang="en-US" dirty="0"/>
              <a:t>), we let the component load its own data.</a:t>
            </a:r>
          </a:p>
        </p:txBody>
      </p:sp>
    </p:spTree>
    <p:extLst>
      <p:ext uri="{BB962C8B-B14F-4D97-AF65-F5344CB8AC3E}">
        <p14:creationId xmlns:p14="http://schemas.microsoft.com/office/powerpoint/2010/main" val="40958475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504D3-F223-9EF4-EA4B-2E47191947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E4681-FBA1-4ED3-F886-DE9C12BA0C86}"/>
              </a:ext>
            </a:extLst>
          </p:cNvPr>
          <p:cNvSpPr>
            <a:spLocks noGrp="1"/>
          </p:cNvSpPr>
          <p:nvPr>
            <p:ph type="title"/>
          </p:nvPr>
        </p:nvSpPr>
        <p:spPr>
          <a:xfrm>
            <a:off x="838200" y="2766218"/>
            <a:ext cx="10515600" cy="1325563"/>
          </a:xfrm>
        </p:spPr>
        <p:txBody>
          <a:bodyPr/>
          <a:lstStyle/>
          <a:p>
            <a:pPr algn="ctr"/>
            <a:r>
              <a:rPr lang="en-CA" dirty="0"/>
              <a:t>Passing the endpoint</a:t>
            </a:r>
          </a:p>
        </p:txBody>
      </p:sp>
    </p:spTree>
    <p:extLst>
      <p:ext uri="{BB962C8B-B14F-4D97-AF65-F5344CB8AC3E}">
        <p14:creationId xmlns:p14="http://schemas.microsoft.com/office/powerpoint/2010/main" val="939329546"/>
      </p:ext>
    </p:extLst>
  </p:cSld>
  <p:clrMapOvr>
    <a:masterClrMapping/>
  </p:clrMapOvr>
  <p:transition spd="med">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23B49-A8F9-9C38-2146-F342BD258D68}"/>
              </a:ext>
            </a:extLst>
          </p:cNvPr>
          <p:cNvSpPr>
            <a:spLocks noGrp="1"/>
          </p:cNvSpPr>
          <p:nvPr>
            <p:ph type="title"/>
          </p:nvPr>
        </p:nvSpPr>
        <p:spPr/>
        <p:txBody>
          <a:bodyPr/>
          <a:lstStyle/>
          <a:p>
            <a:r>
              <a:rPr lang="en-US" dirty="0"/>
              <a:t>Attribute-driven data</a:t>
            </a:r>
          </a:p>
        </p:txBody>
      </p:sp>
      <p:sp>
        <p:nvSpPr>
          <p:cNvPr id="3" name="Content Placeholder 2">
            <a:extLst>
              <a:ext uri="{FF2B5EF4-FFF2-40B4-BE49-F238E27FC236}">
                <a16:creationId xmlns:a16="http://schemas.microsoft.com/office/drawing/2014/main" id="{14A32C82-E7BD-14D4-6BE0-E8D72E4F4393}"/>
              </a:ext>
            </a:extLst>
          </p:cNvPr>
          <p:cNvSpPr>
            <a:spLocks noGrp="1"/>
          </p:cNvSpPr>
          <p:nvPr>
            <p:ph idx="1"/>
          </p:nvPr>
        </p:nvSpPr>
        <p:spPr/>
        <p:txBody>
          <a:bodyPr/>
          <a:lstStyle/>
          <a:p>
            <a:pPr marL="0" indent="0">
              <a:buNone/>
            </a:pPr>
            <a:r>
              <a:rPr lang="en-US" sz="2400" dirty="0">
                <a:latin typeface="Consolas" panose="020B0609020204030204" pitchFamily="49" charset="0"/>
                <a:cs typeface="Consolas" panose="020B0609020204030204" pitchFamily="49" charset="0"/>
              </a:rPr>
              <a:t>&lt;component attribute="http://</a:t>
            </a:r>
            <a:r>
              <a:rPr lang="en-US" sz="2400" dirty="0" err="1">
                <a:latin typeface="Consolas" panose="020B0609020204030204" pitchFamily="49" charset="0"/>
                <a:cs typeface="Consolas" panose="020B0609020204030204" pitchFamily="49" charset="0"/>
              </a:rPr>
              <a:t>url</a:t>
            </a:r>
            <a:r>
              <a:rPr lang="en-US" sz="2400" dirty="0">
                <a:latin typeface="Consolas" panose="020B0609020204030204" pitchFamily="49" charset="0"/>
                <a:cs typeface="Consolas" panose="020B0609020204030204" pitchFamily="49" charset="0"/>
              </a:rPr>
              <a:t>-to-some/data"&gt;&lt;/component&gt;</a:t>
            </a:r>
          </a:p>
          <a:p>
            <a:pPr marL="0" indent="0">
              <a:buNone/>
            </a:pPr>
            <a:endParaRPr lang="en-US" dirty="0"/>
          </a:p>
          <a:p>
            <a:r>
              <a:rPr lang="en-CA" dirty="0"/>
              <a:t>Attribute defines </a:t>
            </a:r>
            <a:r>
              <a:rPr lang="en-CA" i="1" dirty="0"/>
              <a:t>where data comes from</a:t>
            </a:r>
          </a:p>
          <a:p>
            <a:r>
              <a:rPr lang="en-CA" dirty="0"/>
              <a:t>Component decides </a:t>
            </a:r>
            <a:r>
              <a:rPr lang="en-CA" i="1" dirty="0"/>
              <a:t>how to fetch and render</a:t>
            </a:r>
            <a:endParaRPr lang="en-CA" dirty="0"/>
          </a:p>
          <a:p>
            <a:pPr marL="0" indent="0">
              <a:buNone/>
            </a:pPr>
            <a:endParaRPr lang="en-US" dirty="0"/>
          </a:p>
        </p:txBody>
      </p:sp>
    </p:spTree>
    <p:extLst>
      <p:ext uri="{BB962C8B-B14F-4D97-AF65-F5344CB8AC3E}">
        <p14:creationId xmlns:p14="http://schemas.microsoft.com/office/powerpoint/2010/main" val="17577868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5F10A-3413-5955-1DFF-FF78E5EA7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9C94C-2C89-8319-62B9-8E1CDD2A71D6}"/>
              </a:ext>
            </a:extLst>
          </p:cNvPr>
          <p:cNvSpPr>
            <a:spLocks noGrp="1"/>
          </p:cNvSpPr>
          <p:nvPr>
            <p:ph type="title"/>
          </p:nvPr>
        </p:nvSpPr>
        <p:spPr>
          <a:xfrm>
            <a:off x="838200" y="2766218"/>
            <a:ext cx="10515600" cy="1325563"/>
          </a:xfrm>
        </p:spPr>
        <p:txBody>
          <a:bodyPr/>
          <a:lstStyle/>
          <a:p>
            <a:pPr algn="ctr"/>
            <a:r>
              <a:rPr lang="en-CA" dirty="0"/>
              <a:t>Reactive Attribute Changes</a:t>
            </a:r>
          </a:p>
        </p:txBody>
      </p:sp>
    </p:spTree>
    <p:extLst>
      <p:ext uri="{BB962C8B-B14F-4D97-AF65-F5344CB8AC3E}">
        <p14:creationId xmlns:p14="http://schemas.microsoft.com/office/powerpoint/2010/main" val="2194380289"/>
      </p:ext>
    </p:extLst>
  </p:cSld>
  <p:clrMapOvr>
    <a:masterClrMapping/>
  </p:clrMapOvr>
  <p:transition spd="med">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17A56-E69F-8A76-00BB-F016D8FDC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D35824-0EC3-3FC2-8C3C-D7CF81D18C1F}"/>
              </a:ext>
            </a:extLst>
          </p:cNvPr>
          <p:cNvSpPr>
            <a:spLocks noGrp="1"/>
          </p:cNvSpPr>
          <p:nvPr>
            <p:ph type="title"/>
          </p:nvPr>
        </p:nvSpPr>
        <p:spPr/>
        <p:txBody>
          <a:bodyPr/>
          <a:lstStyle/>
          <a:p>
            <a:r>
              <a:rPr lang="en-US" dirty="0"/>
              <a:t>A new reactive pattern</a:t>
            </a:r>
          </a:p>
        </p:txBody>
      </p:sp>
      <p:sp>
        <p:nvSpPr>
          <p:cNvPr id="3" name="Content Placeholder 2">
            <a:extLst>
              <a:ext uri="{FF2B5EF4-FFF2-40B4-BE49-F238E27FC236}">
                <a16:creationId xmlns:a16="http://schemas.microsoft.com/office/drawing/2014/main" id="{6095C56A-E6E1-1EF1-BC3B-7DD26C741CC8}"/>
              </a:ext>
            </a:extLst>
          </p:cNvPr>
          <p:cNvSpPr>
            <a:spLocks noGrp="1"/>
          </p:cNvSpPr>
          <p:nvPr>
            <p:ph idx="1"/>
          </p:nvPr>
        </p:nvSpPr>
        <p:spPr/>
        <p:txBody>
          <a:bodyPr>
            <a:normAutofit/>
          </a:bodyPr>
          <a:lstStyle/>
          <a:p>
            <a:r>
              <a:rPr lang="en-US" dirty="0"/>
              <a:t>Attribute changes</a:t>
            </a:r>
          </a:p>
          <a:p>
            <a:r>
              <a:rPr lang="en-US" dirty="0"/>
              <a:t>Async side effect runs</a:t>
            </a:r>
          </a:p>
          <a:p>
            <a:r>
              <a:rPr lang="en-US" dirty="0"/>
              <a:t>Component updates state</a:t>
            </a:r>
          </a:p>
          <a:p>
            <a:r>
              <a:rPr lang="en-US" dirty="0"/>
              <a:t>UI re-renders</a:t>
            </a:r>
          </a:p>
          <a:p>
            <a:endParaRPr lang="en-US" dirty="0"/>
          </a:p>
          <a:p>
            <a:pPr marL="0" indent="0">
              <a:buNone/>
            </a:pPr>
            <a:r>
              <a:rPr lang="en-US" dirty="0"/>
              <a:t>This mirrors how frameworks behave.</a:t>
            </a:r>
          </a:p>
        </p:txBody>
      </p:sp>
    </p:spTree>
    <p:extLst>
      <p:ext uri="{BB962C8B-B14F-4D97-AF65-F5344CB8AC3E}">
        <p14:creationId xmlns:p14="http://schemas.microsoft.com/office/powerpoint/2010/main" val="40701807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7C98A3A-671D-7495-92F2-FEA080BB54EE}"/>
              </a:ext>
            </a:extLst>
          </p:cNvPr>
          <p:cNvSpPr>
            <a:spLocks noGrp="1"/>
          </p:cNvSpPr>
          <p:nvPr>
            <p:ph type="title"/>
          </p:nvPr>
        </p:nvSpPr>
        <p:spPr>
          <a:xfrm>
            <a:off x="838200" y="365126"/>
            <a:ext cx="10515600" cy="1325563"/>
          </a:xfrm>
        </p:spPr>
        <p:txBody>
          <a:bodyPr/>
          <a:lstStyle/>
          <a:p>
            <a:r>
              <a:rPr lang="en-US" dirty="0"/>
              <a:t>Sync vs. Async</a:t>
            </a:r>
          </a:p>
        </p:txBody>
      </p:sp>
      <p:pic>
        <p:nvPicPr>
          <p:cNvPr id="5" name="Content Placeholder 4" descr="A diagram of a process&#10;&#10;AI-generated content may be incorrect.">
            <a:extLst>
              <a:ext uri="{FF2B5EF4-FFF2-40B4-BE49-F238E27FC236}">
                <a16:creationId xmlns:a16="http://schemas.microsoft.com/office/drawing/2014/main" id="{0DA7DF43-C448-C79F-872B-266A3615AFAE}"/>
              </a:ext>
            </a:extLst>
          </p:cNvPr>
          <p:cNvPicPr>
            <a:picLocks noGrp="1" noChangeAspect="1"/>
          </p:cNvPicPr>
          <p:nvPr>
            <p:ph idx="1"/>
          </p:nvPr>
        </p:nvPicPr>
        <p:blipFill>
          <a:blip r:embed="rId2"/>
          <a:stretch>
            <a:fillRect/>
          </a:stretch>
        </p:blipFill>
        <p:spPr>
          <a:xfrm>
            <a:off x="2524189" y="1443210"/>
            <a:ext cx="6928283" cy="4416780"/>
          </a:xfrm>
          <a:noFill/>
        </p:spPr>
      </p:pic>
    </p:spTree>
    <p:extLst>
      <p:ext uri="{BB962C8B-B14F-4D97-AF65-F5344CB8AC3E}">
        <p14:creationId xmlns:p14="http://schemas.microsoft.com/office/powerpoint/2010/main" val="6611060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BDB56-A78F-4F5C-E4C8-B1B444473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47FD2B-49AF-C334-ED2C-50BBE926CFCC}"/>
              </a:ext>
            </a:extLst>
          </p:cNvPr>
          <p:cNvSpPr>
            <a:spLocks noGrp="1"/>
          </p:cNvSpPr>
          <p:nvPr>
            <p:ph type="title"/>
          </p:nvPr>
        </p:nvSpPr>
        <p:spPr>
          <a:xfrm>
            <a:off x="838200" y="2766218"/>
            <a:ext cx="10515600" cy="1325563"/>
          </a:xfrm>
        </p:spPr>
        <p:txBody>
          <a:bodyPr/>
          <a:lstStyle/>
          <a:p>
            <a:pPr algn="ctr"/>
            <a:r>
              <a:rPr lang="en-CA" dirty="0"/>
              <a:t>Comparing the Approaches</a:t>
            </a:r>
          </a:p>
        </p:txBody>
      </p:sp>
    </p:spTree>
    <p:extLst>
      <p:ext uri="{BB962C8B-B14F-4D97-AF65-F5344CB8AC3E}">
        <p14:creationId xmlns:p14="http://schemas.microsoft.com/office/powerpoint/2010/main" val="600587390"/>
      </p:ext>
    </p:extLst>
  </p:cSld>
  <p:clrMapOvr>
    <a:masterClrMapping/>
  </p:clrMapOvr>
  <p:transition spd="med">
    <p:pull/>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EDAA3-4126-717B-9F21-91CA02A8FC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3348F-8787-6180-7CC4-D345E93CC0A3}"/>
              </a:ext>
            </a:extLst>
          </p:cNvPr>
          <p:cNvSpPr>
            <a:spLocks noGrp="1"/>
          </p:cNvSpPr>
          <p:nvPr>
            <p:ph type="title"/>
          </p:nvPr>
        </p:nvSpPr>
        <p:spPr>
          <a:xfrm>
            <a:off x="838199" y="365126"/>
            <a:ext cx="4648199" cy="1325563"/>
          </a:xfrm>
        </p:spPr>
        <p:txBody>
          <a:bodyPr>
            <a:normAutofit/>
          </a:bodyPr>
          <a:lstStyle/>
          <a:p>
            <a:r>
              <a:rPr lang="en-US" sz="2800" dirty="0"/>
              <a:t>Fetch in app shell</a:t>
            </a:r>
          </a:p>
        </p:txBody>
      </p:sp>
      <p:sp>
        <p:nvSpPr>
          <p:cNvPr id="3" name="Content Placeholder 2">
            <a:extLst>
              <a:ext uri="{FF2B5EF4-FFF2-40B4-BE49-F238E27FC236}">
                <a16:creationId xmlns:a16="http://schemas.microsoft.com/office/drawing/2014/main" id="{9D137D24-CCAF-451A-D18F-D0D2830DD705}"/>
              </a:ext>
            </a:extLst>
          </p:cNvPr>
          <p:cNvSpPr>
            <a:spLocks noGrp="1"/>
          </p:cNvSpPr>
          <p:nvPr>
            <p:ph idx="1"/>
          </p:nvPr>
        </p:nvSpPr>
        <p:spPr>
          <a:xfrm>
            <a:off x="838200" y="1825625"/>
            <a:ext cx="4648200" cy="3686901"/>
          </a:xfrm>
        </p:spPr>
        <p:txBody>
          <a:bodyPr>
            <a:normAutofit/>
          </a:bodyPr>
          <a:lstStyle/>
          <a:p>
            <a:r>
              <a:rPr lang="en-US" dirty="0"/>
              <a:t>Clear and explicit</a:t>
            </a:r>
          </a:p>
          <a:p>
            <a:r>
              <a:rPr lang="en-US" dirty="0"/>
              <a:t>Easy to debug</a:t>
            </a:r>
          </a:p>
          <a:p>
            <a:r>
              <a:rPr lang="en-US" dirty="0"/>
              <a:t>Centralized coordination</a:t>
            </a:r>
          </a:p>
          <a:p>
            <a:pPr marL="0" indent="0">
              <a:buNone/>
            </a:pPr>
            <a:endParaRPr lang="en-US" dirty="0"/>
          </a:p>
          <a:p>
            <a:pPr marL="0" indent="0">
              <a:buNone/>
            </a:pPr>
            <a:r>
              <a:rPr lang="en-US" dirty="0"/>
              <a:t>But app shell can grow quickly.</a:t>
            </a:r>
          </a:p>
        </p:txBody>
      </p:sp>
      <p:sp>
        <p:nvSpPr>
          <p:cNvPr id="6" name="Title 1">
            <a:extLst>
              <a:ext uri="{FF2B5EF4-FFF2-40B4-BE49-F238E27FC236}">
                <a16:creationId xmlns:a16="http://schemas.microsoft.com/office/drawing/2014/main" id="{229219D6-36C5-0654-F4F0-6B2AD8C1654C}"/>
              </a:ext>
            </a:extLst>
          </p:cNvPr>
          <p:cNvSpPr txBox="1">
            <a:spLocks/>
          </p:cNvSpPr>
          <p:nvPr/>
        </p:nvSpPr>
        <p:spPr>
          <a:xfrm>
            <a:off x="6096000" y="365126"/>
            <a:ext cx="4648199" cy="1325563"/>
          </a:xfrm>
          <a:prstGeom prst="rect">
            <a:avLst/>
          </a:prstGeom>
        </p:spPr>
        <p:txBody>
          <a:bodyPr vert="horz" lIns="91440" tIns="45720" rIns="91440" bIns="45720" rtlCol="0" anchor="ctr">
            <a:normAutofit/>
          </a:bodyPr>
          <a:lstStyle>
            <a:lvl1pPr algn="l" defTabSz="914355" rtl="0" eaLnBrk="1" latinLnBrk="0" hangingPunct="1">
              <a:lnSpc>
                <a:spcPct val="90000"/>
              </a:lnSpc>
              <a:spcBef>
                <a:spcPct val="0"/>
              </a:spcBef>
              <a:buNone/>
              <a:defRPr sz="3600" b="1" i="0" kern="1200">
                <a:solidFill>
                  <a:schemeClr val="accent1"/>
                </a:solidFill>
                <a:latin typeface="Arial" panose="020B0604020202020204" pitchFamily="34" charset="0"/>
                <a:ea typeface="+mj-ea"/>
                <a:cs typeface="Arial" panose="020B0604020202020204" pitchFamily="34" charset="0"/>
              </a:defRPr>
            </a:lvl1pPr>
          </a:lstStyle>
          <a:p>
            <a:r>
              <a:rPr lang="en-US" sz="2800" dirty="0"/>
              <a:t>Fetch in the component</a:t>
            </a:r>
          </a:p>
        </p:txBody>
      </p:sp>
      <p:sp>
        <p:nvSpPr>
          <p:cNvPr id="7" name="Content Placeholder 2">
            <a:extLst>
              <a:ext uri="{FF2B5EF4-FFF2-40B4-BE49-F238E27FC236}">
                <a16:creationId xmlns:a16="http://schemas.microsoft.com/office/drawing/2014/main" id="{FA4D3D16-0573-1025-7E25-4545624C7108}"/>
              </a:ext>
            </a:extLst>
          </p:cNvPr>
          <p:cNvSpPr txBox="1">
            <a:spLocks/>
          </p:cNvSpPr>
          <p:nvPr/>
        </p:nvSpPr>
        <p:spPr>
          <a:xfrm>
            <a:off x="6096001" y="1825625"/>
            <a:ext cx="4648200" cy="3686901"/>
          </a:xfrm>
          <a:prstGeom prst="rect">
            <a:avLst/>
          </a:prstGeom>
        </p:spPr>
        <p:txBody>
          <a:bodyPr vert="horz" lIns="91440" tIns="45720" rIns="91440" bIns="45720" rtlCol="0">
            <a:normAutofit/>
          </a:bodyPr>
          <a:lstStyle>
            <a:lvl1pPr marL="228589" indent="-228589" algn="l" defTabSz="914355"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panose="020B0604020202020204" pitchFamily="34" charset="0"/>
                <a:ea typeface="+mn-ea"/>
                <a:cs typeface="Arial" panose="020B0604020202020204" pitchFamily="34" charset="0"/>
              </a:defRPr>
            </a:lvl1pPr>
            <a:lvl2pPr marL="685766" indent="-228589" algn="l" defTabSz="914355"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Arial" panose="020B0604020202020204" pitchFamily="34" charset="0"/>
              </a:defRPr>
            </a:lvl2pPr>
            <a:lvl3pPr marL="1142943" indent="-228589" algn="l" defTabSz="914355"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120" indent="-228589" algn="l" defTabSz="914355"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4pPr>
            <a:lvl5pPr marL="2057297" indent="-228589" algn="l" defTabSz="914355"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5pPr>
            <a:lvl6pPr marL="2514475"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Reusable and portable</a:t>
            </a:r>
          </a:p>
          <a:p>
            <a:r>
              <a:rPr lang="en-US" dirty="0"/>
              <a:t>Encapsulated async logic</a:t>
            </a:r>
          </a:p>
          <a:p>
            <a:r>
              <a:rPr lang="en-US" dirty="0"/>
              <a:t>Cleaner app bootstrap</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But more complex component code.</a:t>
            </a:r>
          </a:p>
        </p:txBody>
      </p:sp>
    </p:spTree>
    <p:extLst>
      <p:ext uri="{BB962C8B-B14F-4D97-AF65-F5344CB8AC3E}">
        <p14:creationId xmlns:p14="http://schemas.microsoft.com/office/powerpoint/2010/main" val="21357680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5F1E5-1607-A824-F660-2CD5DA730C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878AAB-21B8-E6BD-1184-D2794E8B7C04}"/>
              </a:ext>
            </a:extLst>
          </p:cNvPr>
          <p:cNvSpPr>
            <a:spLocks noGrp="1"/>
          </p:cNvSpPr>
          <p:nvPr>
            <p:ph type="title"/>
          </p:nvPr>
        </p:nvSpPr>
        <p:spPr>
          <a:xfrm>
            <a:off x="838200" y="2766218"/>
            <a:ext cx="10515600" cy="1325563"/>
          </a:xfrm>
        </p:spPr>
        <p:txBody>
          <a:bodyPr/>
          <a:lstStyle/>
          <a:p>
            <a:pPr algn="ctr"/>
            <a:r>
              <a:rPr lang="en-CA" dirty="0"/>
              <a:t>Real-World Perspective</a:t>
            </a:r>
          </a:p>
        </p:txBody>
      </p:sp>
    </p:spTree>
    <p:extLst>
      <p:ext uri="{BB962C8B-B14F-4D97-AF65-F5344CB8AC3E}">
        <p14:creationId xmlns:p14="http://schemas.microsoft.com/office/powerpoint/2010/main" val="3605930517"/>
      </p:ext>
    </p:extLst>
  </p:cSld>
  <p:clrMapOvr>
    <a:masterClrMapping/>
  </p:clrMapOvr>
  <p:transition spd="med">
    <p:pull/>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9B85D-791E-B4F1-B2B4-1400746FA5AC}"/>
              </a:ext>
            </a:extLst>
          </p:cNvPr>
          <p:cNvSpPr>
            <a:spLocks noGrp="1"/>
          </p:cNvSpPr>
          <p:nvPr>
            <p:ph type="title"/>
          </p:nvPr>
        </p:nvSpPr>
        <p:spPr/>
        <p:txBody>
          <a:bodyPr/>
          <a:lstStyle/>
          <a:p>
            <a:r>
              <a:rPr lang="en-US" dirty="0"/>
              <a:t>You'll see both patterns</a:t>
            </a:r>
          </a:p>
        </p:txBody>
      </p:sp>
      <p:sp>
        <p:nvSpPr>
          <p:cNvPr id="3" name="Content Placeholder 2">
            <a:extLst>
              <a:ext uri="{FF2B5EF4-FFF2-40B4-BE49-F238E27FC236}">
                <a16:creationId xmlns:a16="http://schemas.microsoft.com/office/drawing/2014/main" id="{F3D8D207-57F3-5E68-A5E7-61A938A1730D}"/>
              </a:ext>
            </a:extLst>
          </p:cNvPr>
          <p:cNvSpPr>
            <a:spLocks noGrp="1"/>
          </p:cNvSpPr>
          <p:nvPr>
            <p:ph idx="1"/>
          </p:nvPr>
        </p:nvSpPr>
        <p:spPr/>
        <p:txBody>
          <a:bodyPr>
            <a:normAutofit/>
          </a:bodyPr>
          <a:lstStyle/>
          <a:p>
            <a:r>
              <a:rPr lang="en-US" dirty="0"/>
              <a:t>App shells fetching data</a:t>
            </a:r>
          </a:p>
          <a:p>
            <a:r>
              <a:rPr lang="en-US" dirty="0"/>
              <a:t>Components loading their own resources</a:t>
            </a:r>
          </a:p>
          <a:p>
            <a:r>
              <a:rPr lang="en-US" dirty="0"/>
              <a:t>Shared data services</a:t>
            </a:r>
          </a:p>
          <a:p>
            <a:endParaRPr lang="en-US" dirty="0"/>
          </a:p>
          <a:p>
            <a:pPr marL="0" indent="0">
              <a:buNone/>
            </a:pPr>
            <a:r>
              <a:rPr lang="en-US" dirty="0"/>
              <a:t>The best choice depends on </a:t>
            </a:r>
            <a:r>
              <a:rPr lang="en-US" i="1" dirty="0"/>
              <a:t>context</a:t>
            </a:r>
            <a:r>
              <a:rPr lang="en-US" dirty="0"/>
              <a:t>.</a:t>
            </a:r>
            <a:endParaRPr lang="en-CA" dirty="0"/>
          </a:p>
        </p:txBody>
      </p:sp>
    </p:spTree>
    <p:extLst>
      <p:ext uri="{BB962C8B-B14F-4D97-AF65-F5344CB8AC3E}">
        <p14:creationId xmlns:p14="http://schemas.microsoft.com/office/powerpoint/2010/main" val="22395932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9E497-0B96-A988-B0F7-8671A8753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D4F01-BCF7-C81D-4DF6-ED373D112392}"/>
              </a:ext>
            </a:extLst>
          </p:cNvPr>
          <p:cNvSpPr>
            <a:spLocks noGrp="1"/>
          </p:cNvSpPr>
          <p:nvPr>
            <p:ph type="title"/>
          </p:nvPr>
        </p:nvSpPr>
        <p:spPr/>
        <p:txBody>
          <a:bodyPr/>
          <a:lstStyle/>
          <a:p>
            <a:r>
              <a:rPr lang="en-CA" b="1" dirty="0"/>
              <a:t>Hands-on Practice</a:t>
            </a:r>
            <a:endParaRPr lang="en-CA" dirty="0"/>
          </a:p>
        </p:txBody>
      </p:sp>
      <p:sp>
        <p:nvSpPr>
          <p:cNvPr id="3" name="Content Placeholder 2">
            <a:extLst>
              <a:ext uri="{FF2B5EF4-FFF2-40B4-BE49-F238E27FC236}">
                <a16:creationId xmlns:a16="http://schemas.microsoft.com/office/drawing/2014/main" id="{981A23C2-1004-2B1E-AEF1-B53F9E21EEE8}"/>
              </a:ext>
            </a:extLst>
          </p:cNvPr>
          <p:cNvSpPr>
            <a:spLocks noGrp="1"/>
          </p:cNvSpPr>
          <p:nvPr>
            <p:ph idx="1"/>
          </p:nvPr>
        </p:nvSpPr>
        <p:spPr/>
        <p:txBody>
          <a:bodyPr>
            <a:normAutofit fontScale="92500" lnSpcReduction="10000"/>
          </a:bodyPr>
          <a:lstStyle/>
          <a:p>
            <a:pPr marL="0" indent="0">
              <a:buNone/>
            </a:pPr>
            <a:r>
              <a:rPr lang="en-CA" dirty="0"/>
              <a:t>Exercise: Update an existing component-based app load asynchronous data</a:t>
            </a:r>
          </a:p>
          <a:p>
            <a:pPr marL="0" indent="0">
              <a:buNone/>
            </a:pPr>
            <a:r>
              <a:rPr lang="en-CA" b="1" dirty="0"/>
              <a:t>Objective:</a:t>
            </a:r>
            <a:r>
              <a:rPr lang="en-CA" dirty="0"/>
              <a:t> Implement fetch API to retrieve and display dynamic data</a:t>
            </a:r>
          </a:p>
          <a:p>
            <a:pPr marL="0" indent="0">
              <a:buNone/>
            </a:pPr>
            <a:endParaRPr lang="en-CA" dirty="0"/>
          </a:p>
          <a:p>
            <a:r>
              <a:rPr lang="en-CA" dirty="0"/>
              <a:t>Obtain the exercise starter files</a:t>
            </a:r>
          </a:p>
          <a:p>
            <a:pPr marL="971527" lvl="1" indent="-514350">
              <a:buFont typeface="+mj-lt"/>
              <a:buAutoNum type="arabicPeriod"/>
            </a:pPr>
            <a:r>
              <a:rPr lang="en-CA" dirty="0"/>
              <a:t>Fetch resources from the backend API</a:t>
            </a:r>
          </a:p>
          <a:p>
            <a:pPr marL="971527" lvl="1" indent="-514350">
              <a:buFont typeface="+mj-lt"/>
              <a:buAutoNum type="arabicPeriod"/>
            </a:pPr>
            <a:r>
              <a:rPr lang="en-CA" dirty="0"/>
              <a:t>Render results when data arrives</a:t>
            </a:r>
          </a:p>
          <a:p>
            <a:pPr marL="971527" lvl="1" indent="-514350">
              <a:buFont typeface="+mj-lt"/>
              <a:buAutoNum type="arabicPeriod"/>
            </a:pPr>
            <a:r>
              <a:rPr lang="en-CA" dirty="0"/>
              <a:t>Keep filtering and selection working</a:t>
            </a:r>
          </a:p>
          <a:p>
            <a:pPr marL="971527" lvl="1" indent="-514350">
              <a:buFont typeface="+mj-lt"/>
              <a:buAutoNum type="arabicPeriod"/>
            </a:pPr>
            <a:r>
              <a:rPr lang="en-CA" dirty="0"/>
              <a:t>Ask questions if you are unsure of what to do or how the code works.</a:t>
            </a:r>
          </a:p>
          <a:p>
            <a:pPr marL="971527" lvl="1" indent="-514350">
              <a:buFont typeface="+mj-lt"/>
              <a:buAutoNum type="arabicPeriod"/>
            </a:pPr>
            <a:endParaRPr lang="en-CA" dirty="0"/>
          </a:p>
          <a:p>
            <a:endParaRPr lang="en-CA" dirty="0"/>
          </a:p>
        </p:txBody>
      </p:sp>
    </p:spTree>
    <p:extLst>
      <p:ext uri="{BB962C8B-B14F-4D97-AF65-F5344CB8AC3E}">
        <p14:creationId xmlns:p14="http://schemas.microsoft.com/office/powerpoint/2010/main" val="98885256"/>
      </p:ext>
    </p:extLst>
  </p:cSld>
  <p:clrMapOvr>
    <a:masterClrMapping/>
  </p:clrMapOvr>
  <p:transition spd="med">
    <p:pull/>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7F87A-EC3B-6F87-073F-5EA32E945DDB}"/>
              </a:ext>
            </a:extLst>
          </p:cNvPr>
          <p:cNvSpPr>
            <a:spLocks noGrp="1"/>
          </p:cNvSpPr>
          <p:nvPr>
            <p:ph type="title"/>
          </p:nvPr>
        </p:nvSpPr>
        <p:spPr/>
        <p:txBody>
          <a:bodyPr/>
          <a:lstStyle/>
          <a:p>
            <a:r>
              <a:rPr lang="en-US" dirty="0"/>
              <a:t>Lesson Summary</a:t>
            </a:r>
          </a:p>
        </p:txBody>
      </p:sp>
      <p:sp>
        <p:nvSpPr>
          <p:cNvPr id="3" name="Content Placeholder 2">
            <a:extLst>
              <a:ext uri="{FF2B5EF4-FFF2-40B4-BE49-F238E27FC236}">
                <a16:creationId xmlns:a16="http://schemas.microsoft.com/office/drawing/2014/main" id="{2A7FA4A7-5289-6F66-D4CE-FCD9F7DE87A5}"/>
              </a:ext>
            </a:extLst>
          </p:cNvPr>
          <p:cNvSpPr>
            <a:spLocks noGrp="1"/>
          </p:cNvSpPr>
          <p:nvPr>
            <p:ph idx="1"/>
          </p:nvPr>
        </p:nvSpPr>
        <p:spPr/>
        <p:txBody>
          <a:bodyPr>
            <a:normAutofit/>
          </a:bodyPr>
          <a:lstStyle/>
          <a:p>
            <a:r>
              <a:rPr lang="en-US" dirty="0"/>
              <a:t>In this lesson, we covered the following:</a:t>
            </a:r>
          </a:p>
          <a:p>
            <a:pPr marL="971550" lvl="1" indent="-514350">
              <a:buFont typeface="+mj-lt"/>
              <a:buAutoNum type="arabicPeriod"/>
            </a:pPr>
            <a:r>
              <a:rPr lang="en-US" dirty="0"/>
              <a:t>Explain how JavaScript handles asynchronous operations</a:t>
            </a:r>
          </a:p>
          <a:p>
            <a:pPr marL="971550" lvl="1" indent="-514350">
              <a:buFont typeface="+mj-lt"/>
              <a:buAutoNum type="arabicPeriod"/>
            </a:pPr>
            <a:r>
              <a:rPr lang="en-US" dirty="0"/>
              <a:t>Use fetch with async / await to load data</a:t>
            </a:r>
          </a:p>
          <a:p>
            <a:pPr marL="971550" lvl="1" indent="-514350">
              <a:buFont typeface="+mj-lt"/>
              <a:buAutoNum type="arabicPeriod"/>
            </a:pPr>
            <a:r>
              <a:rPr lang="en-US" dirty="0"/>
              <a:t>Describe how async data flows through an application</a:t>
            </a:r>
          </a:p>
          <a:p>
            <a:pPr marL="971550" lvl="1" indent="-514350">
              <a:buFont typeface="+mj-lt"/>
              <a:buAutoNum type="arabicPeriod"/>
            </a:pPr>
            <a:r>
              <a:rPr lang="en-US" dirty="0"/>
              <a:t>Compare two approaches to coordinating fetched data</a:t>
            </a:r>
          </a:p>
          <a:p>
            <a:pPr marL="971550" lvl="1" indent="-514350">
              <a:buFont typeface="+mj-lt"/>
              <a:buAutoNum type="arabicPeriod"/>
            </a:pPr>
            <a:endParaRPr lang="en-US" dirty="0"/>
          </a:p>
          <a:p>
            <a:pPr marL="514373" indent="-514350"/>
            <a:r>
              <a:rPr lang="en-CA" dirty="0"/>
              <a:t>Complete lesson 5 checklist</a:t>
            </a:r>
            <a:endParaRPr lang="en-US" dirty="0"/>
          </a:p>
        </p:txBody>
      </p:sp>
    </p:spTree>
    <p:extLst>
      <p:ext uri="{BB962C8B-B14F-4D97-AF65-F5344CB8AC3E}">
        <p14:creationId xmlns:p14="http://schemas.microsoft.com/office/powerpoint/2010/main" val="34157582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C17D3-7614-08E1-2AAC-01DF58360395}"/>
              </a:ext>
            </a:extLst>
          </p:cNvPr>
          <p:cNvSpPr>
            <a:spLocks noGrp="1"/>
          </p:cNvSpPr>
          <p:nvPr>
            <p:ph type="title"/>
          </p:nvPr>
        </p:nvSpPr>
        <p:spPr/>
        <p:txBody>
          <a:bodyPr/>
          <a:lstStyle/>
          <a:p>
            <a:r>
              <a:rPr lang="en-US" dirty="0"/>
              <a:t>Exit Ticket</a:t>
            </a:r>
            <a:endParaRPr lang="en-CA" dirty="0"/>
          </a:p>
        </p:txBody>
      </p:sp>
      <p:sp>
        <p:nvSpPr>
          <p:cNvPr id="3" name="Content Placeholder 2">
            <a:extLst>
              <a:ext uri="{FF2B5EF4-FFF2-40B4-BE49-F238E27FC236}">
                <a16:creationId xmlns:a16="http://schemas.microsoft.com/office/drawing/2014/main" id="{D0E3BE39-AE9E-C416-EC64-744B7883BBD1}"/>
              </a:ext>
            </a:extLst>
          </p:cNvPr>
          <p:cNvSpPr>
            <a:spLocks noGrp="1"/>
          </p:cNvSpPr>
          <p:nvPr>
            <p:ph idx="1"/>
          </p:nvPr>
        </p:nvSpPr>
        <p:spPr/>
        <p:txBody>
          <a:bodyPr/>
          <a:lstStyle/>
          <a:p>
            <a:r>
              <a:rPr lang="en-US" dirty="0"/>
              <a:t>“Where does async work actually happen?”</a:t>
            </a:r>
          </a:p>
          <a:p>
            <a:r>
              <a:rPr lang="en-US" dirty="0"/>
              <a:t>“When would you fetch in a component instead of the app shell?”</a:t>
            </a:r>
          </a:p>
        </p:txBody>
      </p:sp>
    </p:spTree>
    <p:extLst>
      <p:ext uri="{BB962C8B-B14F-4D97-AF65-F5344CB8AC3E}">
        <p14:creationId xmlns:p14="http://schemas.microsoft.com/office/powerpoint/2010/main" val="1481093830"/>
      </p:ext>
    </p:extLst>
  </p:cSld>
  <p:clrMapOvr>
    <a:masterClrMapping/>
  </p:clrMapOvr>
  <p:transition spd="med">
    <p:pull/>
  </p:transition>
</p:sld>
</file>

<file path=ppt/theme/theme1.xml><?xml version="1.0" encoding="utf-8"?>
<a:theme xmlns:a="http://schemas.openxmlformats.org/drawingml/2006/main" name="Day N - PPT 1">
  <a:themeElements>
    <a:clrScheme name="NAIT 2020">
      <a:dk1>
        <a:sysClr val="windowText" lastClr="000000"/>
      </a:dk1>
      <a:lt1>
        <a:sysClr val="window" lastClr="FFFFFF"/>
      </a:lt1>
      <a:dk2>
        <a:srgbClr val="63666A"/>
      </a:dk2>
      <a:lt2>
        <a:srgbClr val="F2F2F2"/>
      </a:lt2>
      <a:accent1>
        <a:srgbClr val="002D74"/>
      </a:accent1>
      <a:accent2>
        <a:srgbClr val="00A0DF"/>
      </a:accent2>
      <a:accent3>
        <a:srgbClr val="005CB9"/>
      </a:accent3>
      <a:accent4>
        <a:srgbClr val="2AD2C9"/>
      </a:accent4>
      <a:accent5>
        <a:srgbClr val="97D700"/>
      </a:accent5>
      <a:accent6>
        <a:srgbClr val="F2A900"/>
      </a:accent6>
      <a:hlink>
        <a:srgbClr val="00AEFF"/>
      </a:hlink>
      <a:folHlink>
        <a:srgbClr val="981D9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IT PPT TEMPLATE" id="{48C832B7-36DA-FF42-A033-DC69DF6E754B}" vid="{12E7E523-AC5B-2043-BD48-32C2D6EE822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Day N - PPT 1</Template>
  <TotalTime>19193</TotalTime>
  <Words>1129</Words>
  <Application>Microsoft Office PowerPoint</Application>
  <PresentationFormat>Widescreen</PresentationFormat>
  <Paragraphs>215</Paragraphs>
  <Slides>41</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Aptos</vt:lpstr>
      <vt:lpstr>Arial</vt:lpstr>
      <vt:lpstr>Consolas</vt:lpstr>
      <vt:lpstr>Courier New</vt:lpstr>
      <vt:lpstr>Google Sans</vt:lpstr>
      <vt:lpstr>Day N - PPT 1</vt:lpstr>
      <vt:lpstr>SDEV2150</vt:lpstr>
      <vt:lpstr>Lesson Objectives</vt:lpstr>
      <vt:lpstr>Agenda</vt:lpstr>
      <vt:lpstr>Connecting</vt:lpstr>
      <vt:lpstr>Original Hard-coded Data</vt:lpstr>
      <vt:lpstr>Why async matters</vt:lpstr>
      <vt:lpstr>PowerPoint Presentation</vt:lpstr>
      <vt:lpstr>PowerPoint Presentation</vt:lpstr>
      <vt:lpstr>Mental Model</vt:lpstr>
      <vt:lpstr>JavaScript does not block</vt:lpstr>
      <vt:lpstr>Promises</vt:lpstr>
      <vt:lpstr>What a Promise represents</vt:lpstr>
      <vt:lpstr>Promise Chaining</vt:lpstr>
      <vt:lpstr>Handling steps in order</vt:lpstr>
      <vt:lpstr>async / await</vt:lpstr>
      <vt:lpstr>Promise syntax made readable</vt:lpstr>
      <vt:lpstr>Promise syntax made readable</vt:lpstr>
      <vt:lpstr>Promise.all()</vt:lpstr>
      <vt:lpstr>Coordinating multiple async tasks</vt:lpstr>
      <vt:lpstr>Stage 1: Fetch COORDINATION</vt:lpstr>
      <vt:lpstr>Starting simple</vt:lpstr>
      <vt:lpstr>Fetching Data</vt:lpstr>
      <vt:lpstr>Using fetch with async/await</vt:lpstr>
      <vt:lpstr>Coordinating Data</vt:lpstr>
      <vt:lpstr>App shell as coordinator</vt:lpstr>
      <vt:lpstr>Async States</vt:lpstr>
      <vt:lpstr>What we're not solving yet</vt:lpstr>
      <vt:lpstr>Stage 2: Component Fetching</vt:lpstr>
      <vt:lpstr>Making components reusable</vt:lpstr>
      <vt:lpstr>Passing the endpoint</vt:lpstr>
      <vt:lpstr>Attribute-driven data</vt:lpstr>
      <vt:lpstr>Reactive Attribute Changes</vt:lpstr>
      <vt:lpstr>A new reactive pattern</vt:lpstr>
      <vt:lpstr>Sync vs. Async</vt:lpstr>
      <vt:lpstr>Comparing the Approaches</vt:lpstr>
      <vt:lpstr>Fetch in app shell</vt:lpstr>
      <vt:lpstr>Real-World Perspective</vt:lpstr>
      <vt:lpstr>You'll see both patterns</vt:lpstr>
      <vt:lpstr>Hands-on Practice</vt:lpstr>
      <vt:lpstr>Lesson Summary</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Nathan Humphrey</dc:creator>
  <cp:lastModifiedBy>Baljeet Kaur</cp:lastModifiedBy>
  <cp:revision>78</cp:revision>
  <dcterms:created xsi:type="dcterms:W3CDTF">2025-05-09T22:20:28Z</dcterms:created>
  <dcterms:modified xsi:type="dcterms:W3CDTF">2026-01-28T22:53:44Z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877899-02b0-462c-b2a9-b7d15c4f96fe_Enabled">
    <vt:lpwstr>true</vt:lpwstr>
  </property>
  <property fmtid="{D5CDD505-2E9C-101B-9397-08002B2CF9AE}" pid="3" name="MSIP_Label_10877899-02b0-462c-b2a9-b7d15c4f96fe_SetDate">
    <vt:lpwstr>2025-05-09T22:21:39Z</vt:lpwstr>
  </property>
  <property fmtid="{D5CDD505-2E9C-101B-9397-08002B2CF9AE}" pid="4" name="MSIP_Label_10877899-02b0-462c-b2a9-b7d15c4f96fe_Method">
    <vt:lpwstr>Standard</vt:lpwstr>
  </property>
  <property fmtid="{D5CDD505-2E9C-101B-9397-08002B2CF9AE}" pid="5" name="MSIP_Label_10877899-02b0-462c-b2a9-b7d15c4f96fe_Name">
    <vt:lpwstr>Protected [Protected A]</vt:lpwstr>
  </property>
  <property fmtid="{D5CDD505-2E9C-101B-9397-08002B2CF9AE}" pid="6" name="MSIP_Label_10877899-02b0-462c-b2a9-b7d15c4f96fe_SiteId">
    <vt:lpwstr>5c98fb47-d3b9-4649-9d94-f88cbdd9729c</vt:lpwstr>
  </property>
  <property fmtid="{D5CDD505-2E9C-101B-9397-08002B2CF9AE}" pid="7" name="MSIP_Label_10877899-02b0-462c-b2a9-b7d15c4f96fe_ActionId">
    <vt:lpwstr>ea09c963-5839-457c-a351-7e2868c7baef</vt:lpwstr>
  </property>
  <property fmtid="{D5CDD505-2E9C-101B-9397-08002B2CF9AE}" pid="8" name="MSIP_Label_10877899-02b0-462c-b2a9-b7d15c4f96fe_ContentBits">
    <vt:lpwstr>0</vt:lpwstr>
  </property>
  <property fmtid="{D5CDD505-2E9C-101B-9397-08002B2CF9AE}" pid="9" name="MSIP_Label_10877899-02b0-462c-b2a9-b7d15c4f96fe_Tag">
    <vt:lpwstr>50, 3, 0, 1</vt:lpwstr>
  </property>
</Properties>
</file>